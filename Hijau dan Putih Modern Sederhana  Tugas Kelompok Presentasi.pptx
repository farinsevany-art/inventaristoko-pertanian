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Fredoka" charset="1" panose="02000000000000000000"/>
      <p:regular r:id="rId16"/>
    </p:embeddedFont>
    <p:embeddedFont>
      <p:font typeface="The Seasons Bold" charset="1" panose="00000000000000000000"/>
      <p:regular r:id="rId17"/>
    </p:embeddedFont>
    <p:embeddedFont>
      <p:font typeface="Open Sans 1 Bold" charset="1" panose="020B0806030504020204"/>
      <p:regular r:id="rId18"/>
    </p:embeddedFont>
    <p:embeddedFont>
      <p:font typeface="Open Sans 2" charset="1" panose="00000000000000000000"/>
      <p:regular r:id="rId19"/>
    </p:embeddedFont>
    <p:embeddedFont>
      <p:font typeface="Open Sans 1" charset="1" panose="020B0606030504020204"/>
      <p:regular r:id="rId20"/>
    </p:embeddedFont>
    <p:embeddedFont>
      <p:font typeface="Arimo Bold" charset="1" panose="020B07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5.png" Type="http://schemas.openxmlformats.org/officeDocument/2006/relationships/image"/><Relationship Id="rId15" Target="../media/image16.png" Type="http://schemas.openxmlformats.org/officeDocument/2006/relationships/image"/><Relationship Id="rId16" Target="../media/image17.png" Type="http://schemas.openxmlformats.org/officeDocument/2006/relationships/image"/><Relationship Id="rId17" Target="../media/image18.pn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9.png" Type="http://schemas.openxmlformats.org/officeDocument/2006/relationships/image"/><Relationship Id="rId15" Target="../media/image16.png" Type="http://schemas.openxmlformats.org/officeDocument/2006/relationships/image"/><Relationship Id="rId16" Target="../media/image20.png" Type="http://schemas.openxmlformats.org/officeDocument/2006/relationships/image"/><Relationship Id="rId17" Target="../media/image21.png" Type="http://schemas.openxmlformats.org/officeDocument/2006/relationships/image"/><Relationship Id="rId18" Target="../media/image22.pn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https://github.com/farinsevany-art/inventaristoko-pertanian" TargetMode="External" Type="http://schemas.openxmlformats.org/officeDocument/2006/relationships/hyperlink"/><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46080" y="-979877"/>
            <a:ext cx="2958366" cy="2958366"/>
          </a:xfrm>
          <a:custGeom>
            <a:avLst/>
            <a:gdLst/>
            <a:ahLst/>
            <a:cxnLst/>
            <a:rect r="r" b="b" t="t" l="l"/>
            <a:pathLst>
              <a:path h="2958366" w="2958366">
                <a:moveTo>
                  <a:pt x="0" y="0"/>
                </a:moveTo>
                <a:lnTo>
                  <a:pt x="2958366" y="0"/>
                </a:lnTo>
                <a:lnTo>
                  <a:pt x="2958366" y="2958366"/>
                </a:lnTo>
                <a:lnTo>
                  <a:pt x="0" y="29583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506576" y="6530599"/>
            <a:ext cx="3942198" cy="3942198"/>
          </a:xfrm>
          <a:custGeom>
            <a:avLst/>
            <a:gdLst/>
            <a:ahLst/>
            <a:cxnLst/>
            <a:rect r="r" b="b" t="t" l="l"/>
            <a:pathLst>
              <a:path h="3942198" w="3942198">
                <a:moveTo>
                  <a:pt x="3942198" y="0"/>
                </a:moveTo>
                <a:lnTo>
                  <a:pt x="0" y="0"/>
                </a:lnTo>
                <a:lnTo>
                  <a:pt x="0" y="3942198"/>
                </a:lnTo>
                <a:lnTo>
                  <a:pt x="3942198" y="3942198"/>
                </a:lnTo>
                <a:lnTo>
                  <a:pt x="394219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566040" y="2495549"/>
            <a:ext cx="1443921" cy="4114800"/>
          </a:xfrm>
          <a:custGeom>
            <a:avLst/>
            <a:gdLst/>
            <a:ahLst/>
            <a:cxnLst/>
            <a:rect r="r" b="b" t="t" l="l"/>
            <a:pathLst>
              <a:path h="4114800" w="1443921">
                <a:moveTo>
                  <a:pt x="0" y="0"/>
                </a:moveTo>
                <a:lnTo>
                  <a:pt x="1443920" y="0"/>
                </a:lnTo>
                <a:lnTo>
                  <a:pt x="144392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808723">
            <a:off x="2130755" y="1575606"/>
            <a:ext cx="2180900" cy="1839887"/>
          </a:xfrm>
          <a:custGeom>
            <a:avLst/>
            <a:gdLst/>
            <a:ahLst/>
            <a:cxnLst/>
            <a:rect r="r" b="b" t="t" l="l"/>
            <a:pathLst>
              <a:path h="1839887" w="2180900">
                <a:moveTo>
                  <a:pt x="0" y="0"/>
                </a:moveTo>
                <a:lnTo>
                  <a:pt x="2180900" y="0"/>
                </a:lnTo>
                <a:lnTo>
                  <a:pt x="2180900" y="1839887"/>
                </a:lnTo>
                <a:lnTo>
                  <a:pt x="0" y="18398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3221205" y="2008591"/>
            <a:ext cx="14038095" cy="4522007"/>
          </a:xfrm>
          <a:prstGeom prst="rect">
            <a:avLst/>
          </a:prstGeom>
        </p:spPr>
        <p:txBody>
          <a:bodyPr anchor="t" rtlCol="false" tIns="0" lIns="0" bIns="0" rIns="0">
            <a:spAutoFit/>
          </a:bodyPr>
          <a:lstStyle/>
          <a:p>
            <a:pPr algn="ctr">
              <a:lnSpc>
                <a:spcPts val="11806"/>
              </a:lnSpc>
            </a:pPr>
            <a:r>
              <a:rPr lang="en-US" sz="10447">
                <a:solidFill>
                  <a:srgbClr val="113B36"/>
                </a:solidFill>
                <a:latin typeface="Fredoka"/>
                <a:ea typeface="Fredoka"/>
                <a:cs typeface="Fredoka"/>
                <a:sym typeface="Fredoka"/>
              </a:rPr>
              <a:t>SISTEM INVETARIS TOKO PERTANIAN MBAH METH</a:t>
            </a:r>
          </a:p>
        </p:txBody>
      </p:sp>
      <p:sp>
        <p:nvSpPr>
          <p:cNvPr name="TextBox 7" id="7"/>
          <p:cNvSpPr txBox="true"/>
          <p:nvPr/>
        </p:nvSpPr>
        <p:spPr>
          <a:xfrm rot="0">
            <a:off x="3349169" y="7356473"/>
            <a:ext cx="11589663" cy="862965"/>
          </a:xfrm>
          <a:prstGeom prst="rect">
            <a:avLst/>
          </a:prstGeom>
        </p:spPr>
        <p:txBody>
          <a:bodyPr anchor="t" rtlCol="false" tIns="0" lIns="0" bIns="0" rIns="0">
            <a:spAutoFit/>
          </a:bodyPr>
          <a:lstStyle/>
          <a:p>
            <a:pPr algn="ctr">
              <a:lnSpc>
                <a:spcPts val="6299"/>
              </a:lnSpc>
            </a:pPr>
            <a:r>
              <a:rPr lang="en-US" sz="4500" b="true">
                <a:solidFill>
                  <a:srgbClr val="FFFFFF"/>
                </a:solidFill>
                <a:latin typeface="The Seasons Bold"/>
                <a:ea typeface="The Seasons Bold"/>
                <a:cs typeface="The Seasons Bold"/>
                <a:sym typeface="The Seasons Bold"/>
              </a:rPr>
              <a:t>  Oleh: Kelompok 4  </a:t>
            </a:r>
          </a:p>
        </p:txBody>
      </p:sp>
      <p:sp>
        <p:nvSpPr>
          <p:cNvPr name="Freeform 8" id="8"/>
          <p:cNvSpPr/>
          <p:nvPr/>
        </p:nvSpPr>
        <p:spPr>
          <a:xfrm flipH="false" flipV="false" rot="0">
            <a:off x="-114028" y="6530599"/>
            <a:ext cx="3942198" cy="3942198"/>
          </a:xfrm>
          <a:custGeom>
            <a:avLst/>
            <a:gdLst/>
            <a:ahLst/>
            <a:cxnLst/>
            <a:rect r="r" b="b" t="t" l="l"/>
            <a:pathLst>
              <a:path h="3942198" w="3942198">
                <a:moveTo>
                  <a:pt x="0" y="0"/>
                </a:moveTo>
                <a:lnTo>
                  <a:pt x="3942198" y="0"/>
                </a:lnTo>
                <a:lnTo>
                  <a:pt x="3942198" y="3942198"/>
                </a:lnTo>
                <a:lnTo>
                  <a:pt x="0" y="39421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972800" y="0"/>
            <a:ext cx="7315200" cy="1143000"/>
          </a:xfrm>
          <a:custGeom>
            <a:avLst/>
            <a:gdLst/>
            <a:ahLst/>
            <a:cxnLst/>
            <a:rect r="r" b="b" t="t" l="l"/>
            <a:pathLst>
              <a:path h="1143000" w="7315200">
                <a:moveTo>
                  <a:pt x="0" y="0"/>
                </a:moveTo>
                <a:lnTo>
                  <a:pt x="7315200" y="0"/>
                </a:lnTo>
                <a:lnTo>
                  <a:pt x="7315200" y="1143000"/>
                </a:lnTo>
                <a:lnTo>
                  <a:pt x="0" y="11430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BFB"/>
        </a:solidFill>
      </p:bgPr>
    </p:bg>
    <p:spTree>
      <p:nvGrpSpPr>
        <p:cNvPr id="1" name=""/>
        <p:cNvGrpSpPr/>
        <p:nvPr/>
      </p:nvGrpSpPr>
      <p:grpSpPr>
        <a:xfrm>
          <a:off x="0" y="0"/>
          <a:ext cx="0" cy="0"/>
          <a:chOff x="0" y="0"/>
          <a:chExt cx="0" cy="0"/>
        </a:xfrm>
      </p:grpSpPr>
      <p:sp>
        <p:nvSpPr>
          <p:cNvPr name="Freeform 2" id="2"/>
          <p:cNvSpPr/>
          <p:nvPr/>
        </p:nvSpPr>
        <p:spPr>
          <a:xfrm flipH="false" flipV="false" rot="0">
            <a:off x="2081366" y="499306"/>
            <a:ext cx="550741" cy="1454150"/>
          </a:xfrm>
          <a:custGeom>
            <a:avLst/>
            <a:gdLst/>
            <a:ahLst/>
            <a:cxnLst/>
            <a:rect r="r" b="b" t="t" l="l"/>
            <a:pathLst>
              <a:path h="1454150" w="550741">
                <a:moveTo>
                  <a:pt x="0" y="0"/>
                </a:moveTo>
                <a:lnTo>
                  <a:pt x="550741" y="0"/>
                </a:lnTo>
                <a:lnTo>
                  <a:pt x="550741" y="1454149"/>
                </a:lnTo>
                <a:lnTo>
                  <a:pt x="0" y="14541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3946" y="-271352"/>
            <a:ext cx="2224807" cy="2224807"/>
          </a:xfrm>
          <a:custGeom>
            <a:avLst/>
            <a:gdLst/>
            <a:ahLst/>
            <a:cxnLst/>
            <a:rect r="r" b="b" t="t" l="l"/>
            <a:pathLst>
              <a:path h="2224807" w="2224807">
                <a:moveTo>
                  <a:pt x="0" y="0"/>
                </a:moveTo>
                <a:lnTo>
                  <a:pt x="2224807" y="0"/>
                </a:lnTo>
                <a:lnTo>
                  <a:pt x="2224807" y="2224807"/>
                </a:lnTo>
                <a:lnTo>
                  <a:pt x="0" y="2224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566040" y="1989963"/>
            <a:ext cx="1443921" cy="4114800"/>
          </a:xfrm>
          <a:custGeom>
            <a:avLst/>
            <a:gdLst/>
            <a:ahLst/>
            <a:cxnLst/>
            <a:rect r="r" b="b" t="t" l="l"/>
            <a:pathLst>
              <a:path h="4114800" w="1443921">
                <a:moveTo>
                  <a:pt x="0" y="0"/>
                </a:moveTo>
                <a:lnTo>
                  <a:pt x="1443920" y="0"/>
                </a:lnTo>
                <a:lnTo>
                  <a:pt x="144392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5042765" y="7066788"/>
            <a:ext cx="3406009" cy="3406009"/>
          </a:xfrm>
          <a:custGeom>
            <a:avLst/>
            <a:gdLst/>
            <a:ahLst/>
            <a:cxnLst/>
            <a:rect r="r" b="b" t="t" l="l"/>
            <a:pathLst>
              <a:path h="3406009" w="3406009">
                <a:moveTo>
                  <a:pt x="3406009" y="0"/>
                </a:moveTo>
                <a:lnTo>
                  <a:pt x="0" y="0"/>
                </a:lnTo>
                <a:lnTo>
                  <a:pt x="0" y="3406009"/>
                </a:lnTo>
                <a:lnTo>
                  <a:pt x="3406009" y="3406009"/>
                </a:lnTo>
                <a:lnTo>
                  <a:pt x="3406009"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4028" y="7066788"/>
            <a:ext cx="3406009" cy="3406009"/>
          </a:xfrm>
          <a:custGeom>
            <a:avLst/>
            <a:gdLst/>
            <a:ahLst/>
            <a:cxnLst/>
            <a:rect r="r" b="b" t="t" l="l"/>
            <a:pathLst>
              <a:path h="3406009" w="3406009">
                <a:moveTo>
                  <a:pt x="0" y="0"/>
                </a:moveTo>
                <a:lnTo>
                  <a:pt x="3406009" y="0"/>
                </a:lnTo>
                <a:lnTo>
                  <a:pt x="3406009" y="3406009"/>
                </a:lnTo>
                <a:lnTo>
                  <a:pt x="0" y="34060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023728" y="-29544"/>
            <a:ext cx="7315200" cy="1143000"/>
          </a:xfrm>
          <a:custGeom>
            <a:avLst/>
            <a:gdLst/>
            <a:ahLst/>
            <a:cxnLst/>
            <a:rect r="r" b="b" t="t" l="l"/>
            <a:pathLst>
              <a:path h="1143000" w="7315200">
                <a:moveTo>
                  <a:pt x="0" y="0"/>
                </a:moveTo>
                <a:lnTo>
                  <a:pt x="7315200" y="0"/>
                </a:lnTo>
                <a:lnTo>
                  <a:pt x="7315200" y="1143000"/>
                </a:lnTo>
                <a:lnTo>
                  <a:pt x="0" y="11430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2632107" y="1083505"/>
            <a:ext cx="12460047" cy="1285875"/>
          </a:xfrm>
          <a:prstGeom prst="rect">
            <a:avLst/>
          </a:prstGeom>
        </p:spPr>
        <p:txBody>
          <a:bodyPr anchor="t" rtlCol="false" tIns="0" lIns="0" bIns="0" rIns="0">
            <a:spAutoFit/>
          </a:bodyPr>
          <a:lstStyle/>
          <a:p>
            <a:pPr algn="ctr">
              <a:lnSpc>
                <a:spcPts val="10500"/>
              </a:lnSpc>
            </a:pPr>
            <a:r>
              <a:rPr lang="en-US" sz="7500">
                <a:solidFill>
                  <a:srgbClr val="113B36"/>
                </a:solidFill>
                <a:latin typeface="Fredoka"/>
                <a:ea typeface="Fredoka"/>
                <a:cs typeface="Fredoka"/>
                <a:sym typeface="Fredoka"/>
              </a:rPr>
              <a:t>Anggota Kelompok</a:t>
            </a:r>
          </a:p>
        </p:txBody>
      </p:sp>
      <p:sp>
        <p:nvSpPr>
          <p:cNvPr name="TextBox 9" id="9"/>
          <p:cNvSpPr txBox="true"/>
          <p:nvPr/>
        </p:nvSpPr>
        <p:spPr>
          <a:xfrm rot="0">
            <a:off x="3702806" y="3137058"/>
            <a:ext cx="11389348" cy="3463290"/>
          </a:xfrm>
          <a:prstGeom prst="rect">
            <a:avLst/>
          </a:prstGeom>
        </p:spPr>
        <p:txBody>
          <a:bodyPr anchor="t" rtlCol="false" tIns="0" lIns="0" bIns="0" rIns="0">
            <a:spAutoFit/>
          </a:bodyPr>
          <a:lstStyle/>
          <a:p>
            <a:pPr algn="l" marL="863596" indent="-431798" lvl="1">
              <a:lnSpc>
                <a:spcPts val="5599"/>
              </a:lnSpc>
              <a:buAutoNum type="arabicPeriod" startAt="1"/>
            </a:pPr>
            <a:r>
              <a:rPr lang="en-US" b="true" sz="3999">
                <a:solidFill>
                  <a:srgbClr val="113B36"/>
                </a:solidFill>
                <a:latin typeface="Open Sans 1 Bold"/>
                <a:ea typeface="Open Sans 1 Bold"/>
                <a:cs typeface="Open Sans 1 Bold"/>
                <a:sym typeface="Open Sans 1 Bold"/>
              </a:rPr>
              <a:t>Ardi Surya Purnama   (E41251140)</a:t>
            </a:r>
          </a:p>
          <a:p>
            <a:pPr algn="l" marL="863596" indent="-431798" lvl="1">
              <a:lnSpc>
                <a:spcPts val="5599"/>
              </a:lnSpc>
              <a:buAutoNum type="arabicPeriod" startAt="1"/>
            </a:pPr>
            <a:r>
              <a:rPr lang="en-US" b="true" sz="3999">
                <a:solidFill>
                  <a:srgbClr val="113B36"/>
                </a:solidFill>
                <a:latin typeface="Open Sans 1 Bold"/>
                <a:ea typeface="Open Sans 1 Bold"/>
                <a:cs typeface="Open Sans 1 Bold"/>
                <a:sym typeface="Open Sans 1 Bold"/>
              </a:rPr>
              <a:t>Ahmad Maulana Al Ayyubi (E41251100)</a:t>
            </a:r>
          </a:p>
          <a:p>
            <a:pPr algn="l" marL="863596" indent="-431798" lvl="1">
              <a:lnSpc>
                <a:spcPts val="5599"/>
              </a:lnSpc>
              <a:buAutoNum type="arabicPeriod" startAt="1"/>
            </a:pPr>
            <a:r>
              <a:rPr lang="en-US" b="true" sz="3999">
                <a:solidFill>
                  <a:srgbClr val="113B36"/>
                </a:solidFill>
                <a:latin typeface="Open Sans 1 Bold"/>
                <a:ea typeface="Open Sans 1 Bold"/>
                <a:cs typeface="Open Sans 1 Bold"/>
                <a:sym typeface="Open Sans 1 Bold"/>
              </a:rPr>
              <a:t>Christian Wardana   (E41251528)</a:t>
            </a:r>
          </a:p>
          <a:p>
            <a:pPr algn="l" marL="863596" indent="-431798" lvl="1">
              <a:lnSpc>
                <a:spcPts val="5599"/>
              </a:lnSpc>
              <a:buAutoNum type="arabicPeriod" startAt="1"/>
            </a:pPr>
            <a:r>
              <a:rPr lang="en-US" b="true" sz="3999">
                <a:solidFill>
                  <a:srgbClr val="113B36"/>
                </a:solidFill>
                <a:latin typeface="Open Sans 1 Bold"/>
                <a:ea typeface="Open Sans 1 Bold"/>
                <a:cs typeface="Open Sans 1 Bold"/>
                <a:sym typeface="Open Sans 1 Bold"/>
              </a:rPr>
              <a:t>Farin Sevany Kasih  (E41251508)</a:t>
            </a:r>
          </a:p>
          <a:p>
            <a:pPr algn="l">
              <a:lnSpc>
                <a:spcPts val="531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81366" y="499306"/>
            <a:ext cx="550741" cy="1454150"/>
          </a:xfrm>
          <a:custGeom>
            <a:avLst/>
            <a:gdLst/>
            <a:ahLst/>
            <a:cxnLst/>
            <a:rect r="r" b="b" t="t" l="l"/>
            <a:pathLst>
              <a:path h="1454150" w="550741">
                <a:moveTo>
                  <a:pt x="0" y="0"/>
                </a:moveTo>
                <a:lnTo>
                  <a:pt x="550741" y="0"/>
                </a:lnTo>
                <a:lnTo>
                  <a:pt x="550741" y="1454149"/>
                </a:lnTo>
                <a:lnTo>
                  <a:pt x="0" y="14541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3946" y="-271352"/>
            <a:ext cx="2224807" cy="2224807"/>
          </a:xfrm>
          <a:custGeom>
            <a:avLst/>
            <a:gdLst/>
            <a:ahLst/>
            <a:cxnLst/>
            <a:rect r="r" b="b" t="t" l="l"/>
            <a:pathLst>
              <a:path h="2224807" w="2224807">
                <a:moveTo>
                  <a:pt x="0" y="0"/>
                </a:moveTo>
                <a:lnTo>
                  <a:pt x="2224807" y="0"/>
                </a:lnTo>
                <a:lnTo>
                  <a:pt x="2224807" y="2224807"/>
                </a:lnTo>
                <a:lnTo>
                  <a:pt x="0" y="2224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566040" y="1989963"/>
            <a:ext cx="1443921" cy="4114800"/>
          </a:xfrm>
          <a:custGeom>
            <a:avLst/>
            <a:gdLst/>
            <a:ahLst/>
            <a:cxnLst/>
            <a:rect r="r" b="b" t="t" l="l"/>
            <a:pathLst>
              <a:path h="4114800" w="1443921">
                <a:moveTo>
                  <a:pt x="0" y="0"/>
                </a:moveTo>
                <a:lnTo>
                  <a:pt x="1443920" y="0"/>
                </a:lnTo>
                <a:lnTo>
                  <a:pt x="144392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803557" y="1489292"/>
            <a:ext cx="7315200" cy="489197"/>
          </a:xfrm>
          <a:custGeom>
            <a:avLst/>
            <a:gdLst/>
            <a:ahLst/>
            <a:cxnLst/>
            <a:rect r="r" b="b" t="t" l="l"/>
            <a:pathLst>
              <a:path h="489197" w="7315200">
                <a:moveTo>
                  <a:pt x="0" y="0"/>
                </a:moveTo>
                <a:lnTo>
                  <a:pt x="7315200" y="0"/>
                </a:lnTo>
                <a:lnTo>
                  <a:pt x="7315200" y="489197"/>
                </a:lnTo>
                <a:lnTo>
                  <a:pt x="0" y="48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15042765" y="7066788"/>
            <a:ext cx="3406009" cy="3406009"/>
          </a:xfrm>
          <a:custGeom>
            <a:avLst/>
            <a:gdLst/>
            <a:ahLst/>
            <a:cxnLst/>
            <a:rect r="r" b="b" t="t" l="l"/>
            <a:pathLst>
              <a:path h="3406009" w="3406009">
                <a:moveTo>
                  <a:pt x="3406009" y="0"/>
                </a:moveTo>
                <a:lnTo>
                  <a:pt x="0" y="0"/>
                </a:lnTo>
                <a:lnTo>
                  <a:pt x="0" y="3406009"/>
                </a:lnTo>
                <a:lnTo>
                  <a:pt x="3406009" y="3406009"/>
                </a:lnTo>
                <a:lnTo>
                  <a:pt x="3406009"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14028" y="7066788"/>
            <a:ext cx="3406009" cy="3406009"/>
          </a:xfrm>
          <a:custGeom>
            <a:avLst/>
            <a:gdLst/>
            <a:ahLst/>
            <a:cxnLst/>
            <a:rect r="r" b="b" t="t" l="l"/>
            <a:pathLst>
              <a:path h="3406009" w="3406009">
                <a:moveTo>
                  <a:pt x="0" y="0"/>
                </a:moveTo>
                <a:lnTo>
                  <a:pt x="3406009" y="0"/>
                </a:lnTo>
                <a:lnTo>
                  <a:pt x="3406009" y="3406009"/>
                </a:lnTo>
                <a:lnTo>
                  <a:pt x="0" y="34060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0978708" y="-52054"/>
            <a:ext cx="7315200" cy="1143000"/>
          </a:xfrm>
          <a:custGeom>
            <a:avLst/>
            <a:gdLst/>
            <a:ahLst/>
            <a:cxnLst/>
            <a:rect r="r" b="b" t="t" l="l"/>
            <a:pathLst>
              <a:path h="1143000" w="7315200">
                <a:moveTo>
                  <a:pt x="0" y="0"/>
                </a:moveTo>
                <a:lnTo>
                  <a:pt x="7315200" y="0"/>
                </a:lnTo>
                <a:lnTo>
                  <a:pt x="7315200" y="1143000"/>
                </a:lnTo>
                <a:lnTo>
                  <a:pt x="0" y="11430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2803557" y="379180"/>
            <a:ext cx="8432408" cy="1285875"/>
          </a:xfrm>
          <a:prstGeom prst="rect">
            <a:avLst/>
          </a:prstGeom>
        </p:spPr>
        <p:txBody>
          <a:bodyPr anchor="t" rtlCol="false" tIns="0" lIns="0" bIns="0" rIns="0">
            <a:spAutoFit/>
          </a:bodyPr>
          <a:lstStyle/>
          <a:p>
            <a:pPr algn="l">
              <a:lnSpc>
                <a:spcPts val="10500"/>
              </a:lnSpc>
            </a:pPr>
            <a:r>
              <a:rPr lang="en-US" sz="7500">
                <a:solidFill>
                  <a:srgbClr val="113B36"/>
                </a:solidFill>
                <a:latin typeface="Fredoka"/>
                <a:ea typeface="Fredoka"/>
                <a:cs typeface="Fredoka"/>
                <a:sym typeface="Fredoka"/>
              </a:rPr>
              <a:t>BACKGROUD</a:t>
            </a:r>
          </a:p>
        </p:txBody>
      </p:sp>
      <p:sp>
        <p:nvSpPr>
          <p:cNvPr name="TextBox 10" id="10"/>
          <p:cNvSpPr txBox="true"/>
          <p:nvPr/>
        </p:nvSpPr>
        <p:spPr>
          <a:xfrm rot="0">
            <a:off x="2803557" y="2630143"/>
            <a:ext cx="12239208" cy="5224916"/>
          </a:xfrm>
          <a:prstGeom prst="rect">
            <a:avLst/>
          </a:prstGeom>
        </p:spPr>
        <p:txBody>
          <a:bodyPr anchor="t" rtlCol="false" tIns="0" lIns="0" bIns="0" rIns="0">
            <a:spAutoFit/>
          </a:bodyPr>
          <a:lstStyle/>
          <a:p>
            <a:pPr algn="just">
              <a:lnSpc>
                <a:spcPts val="3767"/>
              </a:lnSpc>
              <a:spcBef>
                <a:spcPct val="0"/>
              </a:spcBef>
            </a:pPr>
            <a:r>
              <a:rPr lang="en-US" sz="2690">
                <a:solidFill>
                  <a:srgbClr val="113B36"/>
                </a:solidFill>
                <a:latin typeface="Open Sans 2"/>
                <a:ea typeface="Open Sans 2"/>
                <a:cs typeface="Open Sans 2"/>
                <a:sym typeface="Open Sans 2"/>
              </a:rPr>
              <a:t>Toko Pertanian Mbah Meth masih mengandalkan pencatatan stok secara manual menggunakan buku tulis, sehingga sering terjadi ketidakakuratan data, kesalahan input, dan kesulitan dalam melacak barang yang masuk maupun keluar. Seiring bertambahnya jenis produk dan meningkatnya aktivitas penjualan, sistem manual ini menjadi tidak efisien dan menghambat pemilik toko dalam mengetahui kondisi stok secara cepat dan tepat. Untuk mengatasi permasalahan tersebut, diperlukan pengembangan website sistem inventaris yang mampu mencatat, memproses, dan menyajikan data stok secara otomatis, akurat, serta real-time agar pengelolaan inventaris dapat dilakukan dengan lebih modern dan terstruktur.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81366" y="499306"/>
            <a:ext cx="550741" cy="1454150"/>
          </a:xfrm>
          <a:custGeom>
            <a:avLst/>
            <a:gdLst/>
            <a:ahLst/>
            <a:cxnLst/>
            <a:rect r="r" b="b" t="t" l="l"/>
            <a:pathLst>
              <a:path h="1454150" w="550741">
                <a:moveTo>
                  <a:pt x="0" y="0"/>
                </a:moveTo>
                <a:lnTo>
                  <a:pt x="550741" y="0"/>
                </a:lnTo>
                <a:lnTo>
                  <a:pt x="550741" y="1454149"/>
                </a:lnTo>
                <a:lnTo>
                  <a:pt x="0" y="14541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3946" y="-271352"/>
            <a:ext cx="2224807" cy="2224807"/>
          </a:xfrm>
          <a:custGeom>
            <a:avLst/>
            <a:gdLst/>
            <a:ahLst/>
            <a:cxnLst/>
            <a:rect r="r" b="b" t="t" l="l"/>
            <a:pathLst>
              <a:path h="2224807" w="2224807">
                <a:moveTo>
                  <a:pt x="0" y="0"/>
                </a:moveTo>
                <a:lnTo>
                  <a:pt x="2224807" y="0"/>
                </a:lnTo>
                <a:lnTo>
                  <a:pt x="2224807" y="2224807"/>
                </a:lnTo>
                <a:lnTo>
                  <a:pt x="0" y="2224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566040" y="1989963"/>
            <a:ext cx="1443921" cy="4114800"/>
          </a:xfrm>
          <a:custGeom>
            <a:avLst/>
            <a:gdLst/>
            <a:ahLst/>
            <a:cxnLst/>
            <a:rect r="r" b="b" t="t" l="l"/>
            <a:pathLst>
              <a:path h="4114800" w="1443921">
                <a:moveTo>
                  <a:pt x="0" y="0"/>
                </a:moveTo>
                <a:lnTo>
                  <a:pt x="1443920" y="0"/>
                </a:lnTo>
                <a:lnTo>
                  <a:pt x="144392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803557" y="1489292"/>
            <a:ext cx="7315200" cy="489197"/>
          </a:xfrm>
          <a:custGeom>
            <a:avLst/>
            <a:gdLst/>
            <a:ahLst/>
            <a:cxnLst/>
            <a:rect r="r" b="b" t="t" l="l"/>
            <a:pathLst>
              <a:path h="489197" w="7315200">
                <a:moveTo>
                  <a:pt x="0" y="0"/>
                </a:moveTo>
                <a:lnTo>
                  <a:pt x="7315200" y="0"/>
                </a:lnTo>
                <a:lnTo>
                  <a:pt x="7315200" y="489197"/>
                </a:lnTo>
                <a:lnTo>
                  <a:pt x="0" y="48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15042765" y="7066788"/>
            <a:ext cx="3406009" cy="3406009"/>
          </a:xfrm>
          <a:custGeom>
            <a:avLst/>
            <a:gdLst/>
            <a:ahLst/>
            <a:cxnLst/>
            <a:rect r="r" b="b" t="t" l="l"/>
            <a:pathLst>
              <a:path h="3406009" w="3406009">
                <a:moveTo>
                  <a:pt x="3406009" y="0"/>
                </a:moveTo>
                <a:lnTo>
                  <a:pt x="0" y="0"/>
                </a:lnTo>
                <a:lnTo>
                  <a:pt x="0" y="3406009"/>
                </a:lnTo>
                <a:lnTo>
                  <a:pt x="3406009" y="3406009"/>
                </a:lnTo>
                <a:lnTo>
                  <a:pt x="3406009"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14028" y="7066788"/>
            <a:ext cx="3406009" cy="3406009"/>
          </a:xfrm>
          <a:custGeom>
            <a:avLst/>
            <a:gdLst/>
            <a:ahLst/>
            <a:cxnLst/>
            <a:rect r="r" b="b" t="t" l="l"/>
            <a:pathLst>
              <a:path h="3406009" w="3406009">
                <a:moveTo>
                  <a:pt x="0" y="0"/>
                </a:moveTo>
                <a:lnTo>
                  <a:pt x="3406009" y="0"/>
                </a:lnTo>
                <a:lnTo>
                  <a:pt x="3406009" y="3406009"/>
                </a:lnTo>
                <a:lnTo>
                  <a:pt x="0" y="34060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0978708" y="60496"/>
            <a:ext cx="7315200" cy="1143000"/>
          </a:xfrm>
          <a:custGeom>
            <a:avLst/>
            <a:gdLst/>
            <a:ahLst/>
            <a:cxnLst/>
            <a:rect r="r" b="b" t="t" l="l"/>
            <a:pathLst>
              <a:path h="1143000" w="7315200">
                <a:moveTo>
                  <a:pt x="0" y="0"/>
                </a:moveTo>
                <a:lnTo>
                  <a:pt x="7315200" y="0"/>
                </a:lnTo>
                <a:lnTo>
                  <a:pt x="7315200" y="1143000"/>
                </a:lnTo>
                <a:lnTo>
                  <a:pt x="0" y="11430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2803557" y="379180"/>
            <a:ext cx="8432408" cy="1285875"/>
          </a:xfrm>
          <a:prstGeom prst="rect">
            <a:avLst/>
          </a:prstGeom>
        </p:spPr>
        <p:txBody>
          <a:bodyPr anchor="t" rtlCol="false" tIns="0" lIns="0" bIns="0" rIns="0">
            <a:spAutoFit/>
          </a:bodyPr>
          <a:lstStyle/>
          <a:p>
            <a:pPr algn="l">
              <a:lnSpc>
                <a:spcPts val="10500"/>
              </a:lnSpc>
            </a:pPr>
            <a:r>
              <a:rPr lang="en-US" sz="7500">
                <a:solidFill>
                  <a:srgbClr val="113B36"/>
                </a:solidFill>
                <a:latin typeface="Fredoka"/>
                <a:ea typeface="Fredoka"/>
                <a:cs typeface="Fredoka"/>
                <a:sym typeface="Fredoka"/>
              </a:rPr>
              <a:t>PURPOSE</a:t>
            </a:r>
          </a:p>
        </p:txBody>
      </p:sp>
      <p:sp>
        <p:nvSpPr>
          <p:cNvPr name="TextBox 10" id="10"/>
          <p:cNvSpPr txBox="true"/>
          <p:nvPr/>
        </p:nvSpPr>
        <p:spPr>
          <a:xfrm rot="0">
            <a:off x="2803557" y="3044388"/>
            <a:ext cx="9943600" cy="5224916"/>
          </a:xfrm>
          <a:prstGeom prst="rect">
            <a:avLst/>
          </a:prstGeom>
        </p:spPr>
        <p:txBody>
          <a:bodyPr anchor="t" rtlCol="false" tIns="0" lIns="0" bIns="0" rIns="0">
            <a:spAutoFit/>
          </a:bodyPr>
          <a:lstStyle/>
          <a:p>
            <a:pPr algn="just">
              <a:lnSpc>
                <a:spcPts val="3767"/>
              </a:lnSpc>
              <a:spcBef>
                <a:spcPct val="0"/>
              </a:spcBef>
            </a:pPr>
            <a:r>
              <a:rPr lang="en-US" sz="2690">
                <a:solidFill>
                  <a:srgbClr val="113B36"/>
                </a:solidFill>
                <a:latin typeface="Open Sans 2"/>
                <a:ea typeface="Open Sans 2"/>
                <a:cs typeface="Open Sans 2"/>
                <a:sym typeface="Open Sans 2"/>
              </a:rPr>
              <a:t>Tujuan dari pengembangan website sistem inventaris ini adalah untuk mengatasi berbagai kendala yang muncul akibat pencatatan stok manual di Toko Pertanian Mbah Meth. Sistem ini bertujuan menyediakan proses pencatatan barang masuk dan keluar yang lebih akurat, mempermudah pelacakan pergerakan stok, serta menyajikan informasi inventaris secara real-time. Dengan adanya sistem berbasis web, pengelolaan stok dapat dilakukan secara lebih efisien, terstruktur, dan dapat diakses kapan saja sehingga mendukung kelancaran operasional toko dan pengambilan keputusan yang lebih tepat.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81366" y="499306"/>
            <a:ext cx="550741" cy="1454150"/>
          </a:xfrm>
          <a:custGeom>
            <a:avLst/>
            <a:gdLst/>
            <a:ahLst/>
            <a:cxnLst/>
            <a:rect r="r" b="b" t="t" l="l"/>
            <a:pathLst>
              <a:path h="1454150" w="550741">
                <a:moveTo>
                  <a:pt x="0" y="0"/>
                </a:moveTo>
                <a:lnTo>
                  <a:pt x="550741" y="0"/>
                </a:lnTo>
                <a:lnTo>
                  <a:pt x="550741" y="1454149"/>
                </a:lnTo>
                <a:lnTo>
                  <a:pt x="0" y="14541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3946" y="-271352"/>
            <a:ext cx="2224807" cy="2224807"/>
          </a:xfrm>
          <a:custGeom>
            <a:avLst/>
            <a:gdLst/>
            <a:ahLst/>
            <a:cxnLst/>
            <a:rect r="r" b="b" t="t" l="l"/>
            <a:pathLst>
              <a:path h="2224807" w="2224807">
                <a:moveTo>
                  <a:pt x="0" y="0"/>
                </a:moveTo>
                <a:lnTo>
                  <a:pt x="2224807" y="0"/>
                </a:lnTo>
                <a:lnTo>
                  <a:pt x="2224807" y="2224807"/>
                </a:lnTo>
                <a:lnTo>
                  <a:pt x="0" y="2224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566040" y="1989963"/>
            <a:ext cx="1443921" cy="4114800"/>
          </a:xfrm>
          <a:custGeom>
            <a:avLst/>
            <a:gdLst/>
            <a:ahLst/>
            <a:cxnLst/>
            <a:rect r="r" b="b" t="t" l="l"/>
            <a:pathLst>
              <a:path h="4114800" w="1443921">
                <a:moveTo>
                  <a:pt x="0" y="0"/>
                </a:moveTo>
                <a:lnTo>
                  <a:pt x="1443920" y="0"/>
                </a:lnTo>
                <a:lnTo>
                  <a:pt x="144392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803557" y="1489292"/>
            <a:ext cx="7315200" cy="489197"/>
          </a:xfrm>
          <a:custGeom>
            <a:avLst/>
            <a:gdLst/>
            <a:ahLst/>
            <a:cxnLst/>
            <a:rect r="r" b="b" t="t" l="l"/>
            <a:pathLst>
              <a:path h="489197" w="7315200">
                <a:moveTo>
                  <a:pt x="0" y="0"/>
                </a:moveTo>
                <a:lnTo>
                  <a:pt x="7315200" y="0"/>
                </a:lnTo>
                <a:lnTo>
                  <a:pt x="7315200" y="489197"/>
                </a:lnTo>
                <a:lnTo>
                  <a:pt x="0" y="48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15042765" y="7066788"/>
            <a:ext cx="3406009" cy="3406009"/>
          </a:xfrm>
          <a:custGeom>
            <a:avLst/>
            <a:gdLst/>
            <a:ahLst/>
            <a:cxnLst/>
            <a:rect r="r" b="b" t="t" l="l"/>
            <a:pathLst>
              <a:path h="3406009" w="3406009">
                <a:moveTo>
                  <a:pt x="3406009" y="0"/>
                </a:moveTo>
                <a:lnTo>
                  <a:pt x="0" y="0"/>
                </a:lnTo>
                <a:lnTo>
                  <a:pt x="0" y="3406009"/>
                </a:lnTo>
                <a:lnTo>
                  <a:pt x="3406009" y="3406009"/>
                </a:lnTo>
                <a:lnTo>
                  <a:pt x="3406009"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14028" y="7066788"/>
            <a:ext cx="3406009" cy="3406009"/>
          </a:xfrm>
          <a:custGeom>
            <a:avLst/>
            <a:gdLst/>
            <a:ahLst/>
            <a:cxnLst/>
            <a:rect r="r" b="b" t="t" l="l"/>
            <a:pathLst>
              <a:path h="3406009" w="3406009">
                <a:moveTo>
                  <a:pt x="0" y="0"/>
                </a:moveTo>
                <a:lnTo>
                  <a:pt x="3406009" y="0"/>
                </a:lnTo>
                <a:lnTo>
                  <a:pt x="3406009" y="3406009"/>
                </a:lnTo>
                <a:lnTo>
                  <a:pt x="0" y="34060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201023" y="2424181"/>
            <a:ext cx="7887800" cy="7862819"/>
            <a:chOff x="0" y="0"/>
            <a:chExt cx="2077445" cy="2070866"/>
          </a:xfrm>
        </p:grpSpPr>
        <p:sp>
          <p:nvSpPr>
            <p:cNvPr name="Freeform 9" id="9"/>
            <p:cNvSpPr/>
            <p:nvPr/>
          </p:nvSpPr>
          <p:spPr>
            <a:xfrm flipH="false" flipV="false" rot="0">
              <a:off x="0" y="0"/>
              <a:ext cx="2077445" cy="2070866"/>
            </a:xfrm>
            <a:custGeom>
              <a:avLst/>
              <a:gdLst/>
              <a:ahLst/>
              <a:cxnLst/>
              <a:rect r="r" b="b" t="t" l="l"/>
              <a:pathLst>
                <a:path h="2070866" w="2077445">
                  <a:moveTo>
                    <a:pt x="37297" y="0"/>
                  </a:moveTo>
                  <a:lnTo>
                    <a:pt x="2040148" y="0"/>
                  </a:lnTo>
                  <a:cubicBezTo>
                    <a:pt x="2060747" y="0"/>
                    <a:pt x="2077445" y="16699"/>
                    <a:pt x="2077445" y="37297"/>
                  </a:cubicBezTo>
                  <a:lnTo>
                    <a:pt x="2077445" y="2033569"/>
                  </a:lnTo>
                  <a:cubicBezTo>
                    <a:pt x="2077445" y="2054167"/>
                    <a:pt x="2060747" y="2070866"/>
                    <a:pt x="2040148" y="2070866"/>
                  </a:cubicBezTo>
                  <a:lnTo>
                    <a:pt x="37297" y="2070866"/>
                  </a:lnTo>
                  <a:cubicBezTo>
                    <a:pt x="27405" y="2070866"/>
                    <a:pt x="17919" y="2066937"/>
                    <a:pt x="10924" y="2059942"/>
                  </a:cubicBezTo>
                  <a:cubicBezTo>
                    <a:pt x="3930" y="2052947"/>
                    <a:pt x="0" y="2043461"/>
                    <a:pt x="0" y="2033569"/>
                  </a:cubicBezTo>
                  <a:lnTo>
                    <a:pt x="0" y="37297"/>
                  </a:lnTo>
                  <a:cubicBezTo>
                    <a:pt x="0" y="27405"/>
                    <a:pt x="3930" y="17919"/>
                    <a:pt x="10924" y="10924"/>
                  </a:cubicBezTo>
                  <a:cubicBezTo>
                    <a:pt x="17919" y="3930"/>
                    <a:pt x="27405" y="0"/>
                    <a:pt x="37297" y="0"/>
                  </a:cubicBezTo>
                  <a:close/>
                </a:path>
              </a:pathLst>
            </a:custGeom>
            <a:solidFill>
              <a:srgbClr val="FFFFFF"/>
            </a:solidFill>
            <a:ln w="123825" cap="rnd">
              <a:solidFill>
                <a:srgbClr val="26786E"/>
              </a:solidFill>
              <a:prstDash val="solid"/>
              <a:round/>
            </a:ln>
          </p:spPr>
        </p:sp>
        <p:sp>
          <p:nvSpPr>
            <p:cNvPr name="TextBox 10" id="10"/>
            <p:cNvSpPr txBox="true"/>
            <p:nvPr/>
          </p:nvSpPr>
          <p:spPr>
            <a:xfrm>
              <a:off x="0" y="-38100"/>
              <a:ext cx="2077445" cy="210896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9004611" y="2424181"/>
            <a:ext cx="8819244" cy="7862819"/>
            <a:chOff x="0" y="0"/>
            <a:chExt cx="2322764" cy="2070866"/>
          </a:xfrm>
        </p:grpSpPr>
        <p:sp>
          <p:nvSpPr>
            <p:cNvPr name="Freeform 12" id="12"/>
            <p:cNvSpPr/>
            <p:nvPr/>
          </p:nvSpPr>
          <p:spPr>
            <a:xfrm flipH="false" flipV="false" rot="0">
              <a:off x="0" y="0"/>
              <a:ext cx="2322764" cy="2070866"/>
            </a:xfrm>
            <a:custGeom>
              <a:avLst/>
              <a:gdLst/>
              <a:ahLst/>
              <a:cxnLst/>
              <a:rect r="r" b="b" t="t" l="l"/>
              <a:pathLst>
                <a:path h="2070866" w="2322764">
                  <a:moveTo>
                    <a:pt x="33358" y="0"/>
                  </a:moveTo>
                  <a:lnTo>
                    <a:pt x="2289406" y="0"/>
                  </a:lnTo>
                  <a:cubicBezTo>
                    <a:pt x="2307829" y="0"/>
                    <a:pt x="2322764" y="14935"/>
                    <a:pt x="2322764" y="33358"/>
                  </a:cubicBezTo>
                  <a:lnTo>
                    <a:pt x="2322764" y="2037508"/>
                  </a:lnTo>
                  <a:cubicBezTo>
                    <a:pt x="2322764" y="2055931"/>
                    <a:pt x="2307829" y="2070866"/>
                    <a:pt x="2289406" y="2070866"/>
                  </a:cubicBezTo>
                  <a:lnTo>
                    <a:pt x="33358" y="2070866"/>
                  </a:lnTo>
                  <a:cubicBezTo>
                    <a:pt x="24511" y="2070866"/>
                    <a:pt x="16026" y="2067352"/>
                    <a:pt x="9770" y="2061096"/>
                  </a:cubicBezTo>
                  <a:cubicBezTo>
                    <a:pt x="3515" y="2054840"/>
                    <a:pt x="0" y="2046355"/>
                    <a:pt x="0" y="2037508"/>
                  </a:cubicBezTo>
                  <a:lnTo>
                    <a:pt x="0" y="33358"/>
                  </a:lnTo>
                  <a:cubicBezTo>
                    <a:pt x="0" y="14935"/>
                    <a:pt x="14935" y="0"/>
                    <a:pt x="33358" y="0"/>
                  </a:cubicBezTo>
                  <a:close/>
                </a:path>
              </a:pathLst>
            </a:custGeom>
            <a:solidFill>
              <a:srgbClr val="FFFFFF"/>
            </a:solidFill>
            <a:ln w="123825" cap="rnd">
              <a:solidFill>
                <a:srgbClr val="26786E"/>
              </a:solidFill>
              <a:prstDash val="solid"/>
              <a:round/>
            </a:ln>
          </p:spPr>
        </p:sp>
        <p:sp>
          <p:nvSpPr>
            <p:cNvPr name="TextBox 13" id="13"/>
            <p:cNvSpPr txBox="true"/>
            <p:nvPr/>
          </p:nvSpPr>
          <p:spPr>
            <a:xfrm>
              <a:off x="0" y="-38100"/>
              <a:ext cx="2322764" cy="2108966"/>
            </a:xfrm>
            <a:prstGeom prst="rect">
              <a:avLst/>
            </a:prstGeom>
          </p:spPr>
          <p:txBody>
            <a:bodyPr anchor="ctr" rtlCol="false" tIns="50800" lIns="50800" bIns="50800" rIns="50800"/>
            <a:lstStyle/>
            <a:p>
              <a:pPr algn="l">
                <a:lnSpc>
                  <a:spcPts val="2939"/>
                </a:lnSpc>
              </a:pPr>
            </a:p>
          </p:txBody>
        </p:sp>
      </p:grpSp>
      <p:sp>
        <p:nvSpPr>
          <p:cNvPr name="Freeform 14" id="14"/>
          <p:cNvSpPr/>
          <p:nvPr/>
        </p:nvSpPr>
        <p:spPr>
          <a:xfrm flipH="false" flipV="false" rot="0">
            <a:off x="10821138" y="-7034"/>
            <a:ext cx="7315200" cy="1143000"/>
          </a:xfrm>
          <a:custGeom>
            <a:avLst/>
            <a:gdLst/>
            <a:ahLst/>
            <a:cxnLst/>
            <a:rect r="r" b="b" t="t" l="l"/>
            <a:pathLst>
              <a:path h="1143000" w="7315200">
                <a:moveTo>
                  <a:pt x="0" y="0"/>
                </a:moveTo>
                <a:lnTo>
                  <a:pt x="7315200" y="0"/>
                </a:lnTo>
                <a:lnTo>
                  <a:pt x="7315200" y="1143000"/>
                </a:lnTo>
                <a:lnTo>
                  <a:pt x="0" y="11430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2803557" y="379180"/>
            <a:ext cx="8432408" cy="1285875"/>
          </a:xfrm>
          <a:prstGeom prst="rect">
            <a:avLst/>
          </a:prstGeom>
        </p:spPr>
        <p:txBody>
          <a:bodyPr anchor="t" rtlCol="false" tIns="0" lIns="0" bIns="0" rIns="0">
            <a:spAutoFit/>
          </a:bodyPr>
          <a:lstStyle/>
          <a:p>
            <a:pPr algn="l">
              <a:lnSpc>
                <a:spcPts val="10500"/>
              </a:lnSpc>
            </a:pPr>
            <a:r>
              <a:rPr lang="en-US" sz="7500">
                <a:solidFill>
                  <a:srgbClr val="113B36"/>
                </a:solidFill>
                <a:latin typeface="Fredoka"/>
                <a:ea typeface="Fredoka"/>
                <a:cs typeface="Fredoka"/>
                <a:sym typeface="Fredoka"/>
              </a:rPr>
              <a:t>METODOLOGI</a:t>
            </a:r>
          </a:p>
        </p:txBody>
      </p:sp>
      <p:sp>
        <p:nvSpPr>
          <p:cNvPr name="TextBox 16" id="16"/>
          <p:cNvSpPr txBox="true"/>
          <p:nvPr/>
        </p:nvSpPr>
        <p:spPr>
          <a:xfrm rot="0">
            <a:off x="9133519" y="2665095"/>
            <a:ext cx="8432521" cy="6841236"/>
          </a:xfrm>
          <a:prstGeom prst="rect">
            <a:avLst/>
          </a:prstGeom>
        </p:spPr>
        <p:txBody>
          <a:bodyPr anchor="t" rtlCol="false" tIns="0" lIns="0" bIns="0" rIns="0">
            <a:spAutoFit/>
          </a:bodyPr>
          <a:lstStyle/>
          <a:p>
            <a:pPr algn="just">
              <a:lnSpc>
                <a:spcPts val="3024"/>
              </a:lnSpc>
            </a:pPr>
            <a:r>
              <a:rPr lang="en-US" sz="2160">
                <a:solidFill>
                  <a:srgbClr val="113B36"/>
                </a:solidFill>
                <a:latin typeface="Open Sans 2"/>
                <a:ea typeface="Open Sans 2"/>
                <a:cs typeface="Open Sans 2"/>
                <a:sym typeface="Open Sans 2"/>
              </a:rPr>
              <a:t>7.Pembuatan landing page menggunakan template bootstrap.</a:t>
            </a:r>
          </a:p>
          <a:p>
            <a:pPr algn="just">
              <a:lnSpc>
                <a:spcPts val="3024"/>
              </a:lnSpc>
            </a:pPr>
          </a:p>
          <a:p>
            <a:pPr algn="just">
              <a:lnSpc>
                <a:spcPts val="3024"/>
              </a:lnSpc>
            </a:pPr>
            <a:r>
              <a:rPr lang="en-US" sz="2160">
                <a:solidFill>
                  <a:srgbClr val="113B36"/>
                </a:solidFill>
                <a:latin typeface="Open Sans 2"/>
                <a:ea typeface="Open Sans 2"/>
                <a:cs typeface="Open Sans 2"/>
                <a:sym typeface="Open Sans 2"/>
              </a:rPr>
              <a:t>8. Pengembangan halaman customer seperti landing page, informasi barang, dan stok etalase.</a:t>
            </a:r>
          </a:p>
          <a:p>
            <a:pPr algn="just">
              <a:lnSpc>
                <a:spcPts val="3024"/>
              </a:lnSpc>
            </a:pPr>
          </a:p>
          <a:p>
            <a:pPr algn="just">
              <a:lnSpc>
                <a:spcPts val="3024"/>
              </a:lnSpc>
            </a:pPr>
            <a:r>
              <a:rPr lang="en-US" sz="2160">
                <a:solidFill>
                  <a:srgbClr val="113B36"/>
                </a:solidFill>
                <a:latin typeface="Open Sans 2"/>
                <a:ea typeface="Open Sans 2"/>
                <a:cs typeface="Open Sans 2"/>
                <a:sym typeface="Open Sans 2"/>
              </a:rPr>
              <a:t>9. Pengembangan halaman admin meliputi dashboard, stok gudang, stok etalase, pendataan, dan penempatan.</a:t>
            </a:r>
          </a:p>
          <a:p>
            <a:pPr algn="just">
              <a:lnSpc>
                <a:spcPts val="3024"/>
              </a:lnSpc>
            </a:pPr>
          </a:p>
          <a:p>
            <a:pPr algn="just">
              <a:lnSpc>
                <a:spcPts val="3024"/>
              </a:lnSpc>
            </a:pPr>
            <a:r>
              <a:rPr lang="en-US" sz="2160">
                <a:solidFill>
                  <a:srgbClr val="113B36"/>
                </a:solidFill>
                <a:latin typeface="Open Sans 2"/>
                <a:ea typeface="Open Sans 2"/>
                <a:cs typeface="Open Sans 2"/>
                <a:sym typeface="Open Sans 2"/>
              </a:rPr>
              <a:t>10. Integrasi sistem dengan database menggunakan operasi CRUD.</a:t>
            </a:r>
          </a:p>
          <a:p>
            <a:pPr algn="just">
              <a:lnSpc>
                <a:spcPts val="3024"/>
              </a:lnSpc>
            </a:pPr>
          </a:p>
          <a:p>
            <a:pPr algn="just">
              <a:lnSpc>
                <a:spcPts val="3024"/>
              </a:lnSpc>
            </a:pPr>
            <a:r>
              <a:rPr lang="en-US" sz="2160">
                <a:solidFill>
                  <a:srgbClr val="113B36"/>
                </a:solidFill>
                <a:latin typeface="Open Sans 2"/>
                <a:ea typeface="Open Sans 2"/>
                <a:cs typeface="Open Sans 2"/>
                <a:sym typeface="Open Sans 2"/>
              </a:rPr>
              <a:t>11. Pengujian sistem untuk memastikan fungsi berjalan dengan baik.</a:t>
            </a:r>
          </a:p>
          <a:p>
            <a:pPr algn="just">
              <a:lnSpc>
                <a:spcPts val="3024"/>
              </a:lnSpc>
            </a:pPr>
          </a:p>
          <a:p>
            <a:pPr algn="just">
              <a:lnSpc>
                <a:spcPts val="3024"/>
              </a:lnSpc>
            </a:pPr>
            <a:r>
              <a:rPr lang="en-US" sz="2160">
                <a:solidFill>
                  <a:srgbClr val="113B36"/>
                </a:solidFill>
                <a:latin typeface="Open Sans 2"/>
                <a:ea typeface="Open Sans 2"/>
                <a:cs typeface="Open Sans 2"/>
                <a:sym typeface="Open Sans 2"/>
              </a:rPr>
              <a:t>12. Pengunggahan kode ke GitHub sebagai dokumentasi project.</a:t>
            </a:r>
          </a:p>
          <a:p>
            <a:pPr algn="just">
              <a:lnSpc>
                <a:spcPts val="3024"/>
              </a:lnSpc>
            </a:pPr>
          </a:p>
          <a:p>
            <a:pPr algn="just">
              <a:lnSpc>
                <a:spcPts val="3024"/>
              </a:lnSpc>
              <a:spcBef>
                <a:spcPct val="0"/>
              </a:spcBef>
            </a:pPr>
            <a:r>
              <a:rPr lang="en-US" sz="2160">
                <a:solidFill>
                  <a:srgbClr val="113B36"/>
                </a:solidFill>
                <a:latin typeface="Open Sans 2"/>
                <a:ea typeface="Open Sans 2"/>
                <a:cs typeface="Open Sans 2"/>
                <a:sym typeface="Open Sans 2"/>
              </a:rPr>
              <a:t>13. Penyusunan laporan akhir sebagai dokumentasi keseluruhan proses.</a:t>
            </a:r>
          </a:p>
        </p:txBody>
      </p:sp>
      <p:sp>
        <p:nvSpPr>
          <p:cNvPr name="TextBox 17" id="17"/>
          <p:cNvSpPr txBox="true"/>
          <p:nvPr/>
        </p:nvSpPr>
        <p:spPr>
          <a:xfrm rot="0">
            <a:off x="385369" y="2810736"/>
            <a:ext cx="7519108" cy="7662060"/>
          </a:xfrm>
          <a:prstGeom prst="rect">
            <a:avLst/>
          </a:prstGeom>
        </p:spPr>
        <p:txBody>
          <a:bodyPr anchor="t" rtlCol="false" tIns="0" lIns="0" bIns="0" rIns="0">
            <a:spAutoFit/>
          </a:bodyPr>
          <a:lstStyle/>
          <a:p>
            <a:pPr algn="l">
              <a:lnSpc>
                <a:spcPts val="3024"/>
              </a:lnSpc>
            </a:pPr>
            <a:r>
              <a:rPr lang="en-US" sz="2160">
                <a:solidFill>
                  <a:srgbClr val="113B36"/>
                </a:solidFill>
                <a:latin typeface="Open Sans 2"/>
                <a:ea typeface="Open Sans 2"/>
                <a:cs typeface="Open Sans 2"/>
                <a:sym typeface="Open Sans 2"/>
              </a:rPr>
              <a:t>1. Diskusi awal untuk menentukan UMKM yang menjadi objek serta sistem yang akan dikembangkan.</a:t>
            </a:r>
          </a:p>
          <a:p>
            <a:pPr algn="l">
              <a:lnSpc>
                <a:spcPts val="3024"/>
              </a:lnSpc>
            </a:pPr>
          </a:p>
          <a:p>
            <a:pPr algn="l">
              <a:lnSpc>
                <a:spcPts val="3024"/>
              </a:lnSpc>
            </a:pPr>
            <a:r>
              <a:rPr lang="en-US" sz="2160">
                <a:solidFill>
                  <a:srgbClr val="113B36"/>
                </a:solidFill>
                <a:latin typeface="Open Sans 2"/>
                <a:ea typeface="Open Sans 2"/>
                <a:cs typeface="Open Sans 2"/>
                <a:sym typeface="Open Sans 2"/>
              </a:rPr>
              <a:t>2. Wawancara dan observasi guna mengidentifikasi kebutuhan UMKM dan permasalahan dalam pengelolaan inventaris.</a:t>
            </a:r>
          </a:p>
          <a:p>
            <a:pPr algn="l">
              <a:lnSpc>
                <a:spcPts val="3024"/>
              </a:lnSpc>
            </a:pPr>
          </a:p>
          <a:p>
            <a:pPr algn="l">
              <a:lnSpc>
                <a:spcPts val="3024"/>
              </a:lnSpc>
            </a:pPr>
            <a:r>
              <a:rPr lang="en-US" sz="2160">
                <a:solidFill>
                  <a:srgbClr val="113B36"/>
                </a:solidFill>
                <a:latin typeface="Open Sans 2"/>
                <a:ea typeface="Open Sans 2"/>
                <a:cs typeface="Open Sans 2"/>
                <a:sym typeface="Open Sans 2"/>
              </a:rPr>
              <a:t>3. Perancangan ERD sebagai dasar hubungan antar data.</a:t>
            </a:r>
          </a:p>
          <a:p>
            <a:pPr algn="l">
              <a:lnSpc>
                <a:spcPts val="3024"/>
              </a:lnSpc>
            </a:pPr>
          </a:p>
          <a:p>
            <a:pPr algn="l">
              <a:lnSpc>
                <a:spcPts val="3024"/>
              </a:lnSpc>
            </a:pPr>
            <a:r>
              <a:rPr lang="en-US" sz="2160">
                <a:solidFill>
                  <a:srgbClr val="113B36"/>
                </a:solidFill>
                <a:latin typeface="Open Sans 2"/>
                <a:ea typeface="Open Sans 2"/>
                <a:cs typeface="Open Sans 2"/>
                <a:sym typeface="Open Sans 2"/>
              </a:rPr>
              <a:t>4. Penyusunan schema relasional berdasarkan hasil ERD</a:t>
            </a:r>
          </a:p>
          <a:p>
            <a:pPr algn="l">
              <a:lnSpc>
                <a:spcPts val="3024"/>
              </a:lnSpc>
            </a:pPr>
          </a:p>
          <a:p>
            <a:pPr algn="l">
              <a:lnSpc>
                <a:spcPts val="3024"/>
              </a:lnSpc>
            </a:pPr>
            <a:r>
              <a:rPr lang="en-US" sz="2160">
                <a:solidFill>
                  <a:srgbClr val="113B36"/>
                </a:solidFill>
                <a:latin typeface="Open Sans 2"/>
                <a:ea typeface="Open Sans 2"/>
                <a:cs typeface="Open Sans 2"/>
                <a:sym typeface="Open Sans 2"/>
              </a:rPr>
              <a:t>5. Perancangan tabel database meliputi penentuan struktur dan relasi data.</a:t>
            </a:r>
          </a:p>
          <a:p>
            <a:pPr algn="l">
              <a:lnSpc>
                <a:spcPts val="3024"/>
              </a:lnSpc>
            </a:pPr>
          </a:p>
          <a:p>
            <a:pPr algn="l">
              <a:lnSpc>
                <a:spcPts val="3162"/>
              </a:lnSpc>
            </a:pPr>
            <a:r>
              <a:rPr lang="en-US" sz="2258">
                <a:solidFill>
                  <a:srgbClr val="113B36"/>
                </a:solidFill>
                <a:latin typeface="Open Sans 2"/>
                <a:ea typeface="Open Sans 2"/>
                <a:cs typeface="Open Sans 2"/>
                <a:sym typeface="Open Sans 2"/>
              </a:rPr>
              <a:t>6. Perancangan tampilan web sesuai kebutuhan pengguna.</a:t>
            </a:r>
          </a:p>
          <a:p>
            <a:pPr algn="l">
              <a:lnSpc>
                <a:spcPts val="4398"/>
              </a:lnSpc>
            </a:pPr>
          </a:p>
          <a:p>
            <a:pPr algn="l">
              <a:lnSpc>
                <a:spcPts val="3024"/>
              </a:lnSpc>
            </a:pPr>
          </a:p>
          <a:p>
            <a:pPr algn="l">
              <a:lnSpc>
                <a:spcPts val="3024"/>
              </a:lnSpc>
            </a:pPr>
          </a:p>
          <a:p>
            <a:pPr algn="l">
              <a:lnSpc>
                <a:spcPts val="1788"/>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81366" y="499306"/>
            <a:ext cx="550741" cy="1454150"/>
          </a:xfrm>
          <a:custGeom>
            <a:avLst/>
            <a:gdLst/>
            <a:ahLst/>
            <a:cxnLst/>
            <a:rect r="r" b="b" t="t" l="l"/>
            <a:pathLst>
              <a:path h="1454150" w="550741">
                <a:moveTo>
                  <a:pt x="0" y="0"/>
                </a:moveTo>
                <a:lnTo>
                  <a:pt x="550741" y="0"/>
                </a:lnTo>
                <a:lnTo>
                  <a:pt x="550741" y="1454149"/>
                </a:lnTo>
                <a:lnTo>
                  <a:pt x="0" y="14541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3946" y="-271352"/>
            <a:ext cx="2224807" cy="2224807"/>
          </a:xfrm>
          <a:custGeom>
            <a:avLst/>
            <a:gdLst/>
            <a:ahLst/>
            <a:cxnLst/>
            <a:rect r="r" b="b" t="t" l="l"/>
            <a:pathLst>
              <a:path h="2224807" w="2224807">
                <a:moveTo>
                  <a:pt x="0" y="0"/>
                </a:moveTo>
                <a:lnTo>
                  <a:pt x="2224807" y="0"/>
                </a:lnTo>
                <a:lnTo>
                  <a:pt x="2224807" y="2224807"/>
                </a:lnTo>
                <a:lnTo>
                  <a:pt x="0" y="2224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566040" y="1989963"/>
            <a:ext cx="1443921" cy="4114800"/>
          </a:xfrm>
          <a:custGeom>
            <a:avLst/>
            <a:gdLst/>
            <a:ahLst/>
            <a:cxnLst/>
            <a:rect r="r" b="b" t="t" l="l"/>
            <a:pathLst>
              <a:path h="4114800" w="1443921">
                <a:moveTo>
                  <a:pt x="0" y="0"/>
                </a:moveTo>
                <a:lnTo>
                  <a:pt x="1443920" y="0"/>
                </a:lnTo>
                <a:lnTo>
                  <a:pt x="144392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803557" y="1489292"/>
            <a:ext cx="7315200" cy="489197"/>
          </a:xfrm>
          <a:custGeom>
            <a:avLst/>
            <a:gdLst/>
            <a:ahLst/>
            <a:cxnLst/>
            <a:rect r="r" b="b" t="t" l="l"/>
            <a:pathLst>
              <a:path h="489197" w="7315200">
                <a:moveTo>
                  <a:pt x="0" y="0"/>
                </a:moveTo>
                <a:lnTo>
                  <a:pt x="7315200" y="0"/>
                </a:lnTo>
                <a:lnTo>
                  <a:pt x="7315200" y="489197"/>
                </a:lnTo>
                <a:lnTo>
                  <a:pt x="0" y="48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15042765" y="7066788"/>
            <a:ext cx="3406009" cy="3406009"/>
          </a:xfrm>
          <a:custGeom>
            <a:avLst/>
            <a:gdLst/>
            <a:ahLst/>
            <a:cxnLst/>
            <a:rect r="r" b="b" t="t" l="l"/>
            <a:pathLst>
              <a:path h="3406009" w="3406009">
                <a:moveTo>
                  <a:pt x="3406009" y="0"/>
                </a:moveTo>
                <a:lnTo>
                  <a:pt x="0" y="0"/>
                </a:lnTo>
                <a:lnTo>
                  <a:pt x="0" y="3406009"/>
                </a:lnTo>
                <a:lnTo>
                  <a:pt x="3406009" y="3406009"/>
                </a:lnTo>
                <a:lnTo>
                  <a:pt x="3406009"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14028" y="7066788"/>
            <a:ext cx="3406009" cy="3406009"/>
          </a:xfrm>
          <a:custGeom>
            <a:avLst/>
            <a:gdLst/>
            <a:ahLst/>
            <a:cxnLst/>
            <a:rect r="r" b="b" t="t" l="l"/>
            <a:pathLst>
              <a:path h="3406009" w="3406009">
                <a:moveTo>
                  <a:pt x="0" y="0"/>
                </a:moveTo>
                <a:lnTo>
                  <a:pt x="3406009" y="0"/>
                </a:lnTo>
                <a:lnTo>
                  <a:pt x="3406009" y="3406009"/>
                </a:lnTo>
                <a:lnTo>
                  <a:pt x="0" y="34060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1133574" y="0"/>
            <a:ext cx="7315200" cy="1143000"/>
          </a:xfrm>
          <a:custGeom>
            <a:avLst/>
            <a:gdLst/>
            <a:ahLst/>
            <a:cxnLst/>
            <a:rect r="r" b="b" t="t" l="l"/>
            <a:pathLst>
              <a:path h="1143000" w="7315200">
                <a:moveTo>
                  <a:pt x="0" y="0"/>
                </a:moveTo>
                <a:lnTo>
                  <a:pt x="7315200" y="0"/>
                </a:lnTo>
                <a:lnTo>
                  <a:pt x="7315200" y="1143000"/>
                </a:lnTo>
                <a:lnTo>
                  <a:pt x="0" y="11430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9" id="9"/>
          <p:cNvGrpSpPr>
            <a:grpSpLocks noChangeAspect="true"/>
          </p:cNvGrpSpPr>
          <p:nvPr/>
        </p:nvGrpSpPr>
        <p:grpSpPr>
          <a:xfrm rot="0">
            <a:off x="591626" y="5534501"/>
            <a:ext cx="5705514" cy="3723799"/>
            <a:chOff x="0" y="0"/>
            <a:chExt cx="19050000" cy="12433300"/>
          </a:xfrm>
        </p:grpSpPr>
        <p:sp>
          <p:nvSpPr>
            <p:cNvPr name="Freeform 10" id="10"/>
            <p:cNvSpPr/>
            <p:nvPr/>
          </p:nvSpPr>
          <p:spPr>
            <a:xfrm flipH="false" flipV="false" rot="0">
              <a:off x="1452880" y="587121"/>
              <a:ext cx="16166846" cy="10116185"/>
            </a:xfrm>
            <a:custGeom>
              <a:avLst/>
              <a:gdLst/>
              <a:ahLst/>
              <a:cxnLst/>
              <a:rect r="r" b="b" t="t" l="l"/>
              <a:pathLst>
                <a:path h="10116185" w="16166846">
                  <a:moveTo>
                    <a:pt x="16166846" y="0"/>
                  </a:moveTo>
                  <a:lnTo>
                    <a:pt x="16166846" y="10116185"/>
                  </a:lnTo>
                  <a:lnTo>
                    <a:pt x="0" y="10116185"/>
                  </a:lnTo>
                  <a:lnTo>
                    <a:pt x="0" y="0"/>
                  </a:lnTo>
                  <a:lnTo>
                    <a:pt x="16166846" y="0"/>
                  </a:lnTo>
                  <a:close/>
                </a:path>
              </a:pathLst>
            </a:custGeom>
            <a:blipFill>
              <a:blip r:embed="rId14"/>
              <a:stretch>
                <a:fillRect l="-7647" t="0" r="-7647" b="0"/>
              </a:stretch>
            </a:blipFill>
          </p:spPr>
        </p:sp>
        <p:sp>
          <p:nvSpPr>
            <p:cNvPr name="Freeform 11" id="11"/>
            <p:cNvSpPr/>
            <p:nvPr/>
          </p:nvSpPr>
          <p:spPr>
            <a:xfrm flipH="false" flipV="false" rot="0">
              <a:off x="0" y="0"/>
              <a:ext cx="19050000" cy="12433300"/>
            </a:xfrm>
            <a:custGeom>
              <a:avLst/>
              <a:gdLst/>
              <a:ahLst/>
              <a:cxnLst/>
              <a:rect r="r" b="b" t="t" l="l"/>
              <a:pathLst>
                <a:path h="12433300" w="19050000">
                  <a:moveTo>
                    <a:pt x="19050000" y="0"/>
                  </a:moveTo>
                  <a:lnTo>
                    <a:pt x="19050000" y="12433300"/>
                  </a:lnTo>
                  <a:lnTo>
                    <a:pt x="0" y="12433300"/>
                  </a:lnTo>
                  <a:lnTo>
                    <a:pt x="0" y="0"/>
                  </a:lnTo>
                  <a:lnTo>
                    <a:pt x="19050000" y="0"/>
                  </a:lnTo>
                  <a:close/>
                </a:path>
              </a:pathLst>
            </a:custGeom>
            <a:blipFill>
              <a:blip r:embed="rId15"/>
              <a:stretch>
                <a:fillRect l="-301" t="0" r="-301" b="0"/>
              </a:stretch>
            </a:blipFill>
          </p:spPr>
        </p:sp>
      </p:grpSp>
      <p:grpSp>
        <p:nvGrpSpPr>
          <p:cNvPr name="Group 12" id="12"/>
          <p:cNvGrpSpPr>
            <a:grpSpLocks noChangeAspect="true"/>
          </p:cNvGrpSpPr>
          <p:nvPr/>
        </p:nvGrpSpPr>
        <p:grpSpPr>
          <a:xfrm rot="0">
            <a:off x="6073702" y="3164347"/>
            <a:ext cx="6064822" cy="3958307"/>
            <a:chOff x="0" y="0"/>
            <a:chExt cx="19050000" cy="12433300"/>
          </a:xfrm>
        </p:grpSpPr>
        <p:sp>
          <p:nvSpPr>
            <p:cNvPr name="Freeform 13" id="13"/>
            <p:cNvSpPr/>
            <p:nvPr/>
          </p:nvSpPr>
          <p:spPr>
            <a:xfrm flipH="false" flipV="false" rot="0">
              <a:off x="1452880" y="587121"/>
              <a:ext cx="16166846" cy="10116185"/>
            </a:xfrm>
            <a:custGeom>
              <a:avLst/>
              <a:gdLst/>
              <a:ahLst/>
              <a:cxnLst/>
              <a:rect r="r" b="b" t="t" l="l"/>
              <a:pathLst>
                <a:path h="10116185" w="16166846">
                  <a:moveTo>
                    <a:pt x="16166846" y="0"/>
                  </a:moveTo>
                  <a:lnTo>
                    <a:pt x="16166846" y="10116185"/>
                  </a:lnTo>
                  <a:lnTo>
                    <a:pt x="0" y="10116185"/>
                  </a:lnTo>
                  <a:lnTo>
                    <a:pt x="0" y="0"/>
                  </a:lnTo>
                  <a:lnTo>
                    <a:pt x="16166846" y="0"/>
                  </a:lnTo>
                  <a:close/>
                </a:path>
              </a:pathLst>
            </a:custGeom>
            <a:blipFill>
              <a:blip r:embed="rId16"/>
              <a:stretch>
                <a:fillRect l="-7211" t="0" r="-43074" b="0"/>
              </a:stretch>
            </a:blipFill>
          </p:spPr>
        </p:sp>
        <p:sp>
          <p:nvSpPr>
            <p:cNvPr name="Freeform 14" id="14"/>
            <p:cNvSpPr/>
            <p:nvPr/>
          </p:nvSpPr>
          <p:spPr>
            <a:xfrm flipH="false" flipV="false" rot="0">
              <a:off x="0" y="0"/>
              <a:ext cx="19050000" cy="12433300"/>
            </a:xfrm>
            <a:custGeom>
              <a:avLst/>
              <a:gdLst/>
              <a:ahLst/>
              <a:cxnLst/>
              <a:rect r="r" b="b" t="t" l="l"/>
              <a:pathLst>
                <a:path h="12433300" w="19050000">
                  <a:moveTo>
                    <a:pt x="19050000" y="0"/>
                  </a:moveTo>
                  <a:lnTo>
                    <a:pt x="19050000" y="12433300"/>
                  </a:lnTo>
                  <a:lnTo>
                    <a:pt x="0" y="12433300"/>
                  </a:lnTo>
                  <a:lnTo>
                    <a:pt x="0" y="0"/>
                  </a:lnTo>
                  <a:lnTo>
                    <a:pt x="19050000" y="0"/>
                  </a:lnTo>
                  <a:close/>
                </a:path>
              </a:pathLst>
            </a:custGeom>
            <a:blipFill>
              <a:blip r:embed="rId15"/>
              <a:stretch>
                <a:fillRect l="-301" t="0" r="-301" b="0"/>
              </a:stretch>
            </a:blipFill>
          </p:spPr>
        </p:sp>
      </p:grpSp>
      <p:grpSp>
        <p:nvGrpSpPr>
          <p:cNvPr name="Group 15" id="15"/>
          <p:cNvGrpSpPr>
            <a:grpSpLocks noChangeAspect="true"/>
          </p:cNvGrpSpPr>
          <p:nvPr/>
        </p:nvGrpSpPr>
        <p:grpSpPr>
          <a:xfrm rot="0">
            <a:off x="11896381" y="5143500"/>
            <a:ext cx="5789587" cy="3778671"/>
            <a:chOff x="0" y="0"/>
            <a:chExt cx="19050000" cy="12433300"/>
          </a:xfrm>
        </p:grpSpPr>
        <p:sp>
          <p:nvSpPr>
            <p:cNvPr name="Freeform 16" id="16"/>
            <p:cNvSpPr/>
            <p:nvPr/>
          </p:nvSpPr>
          <p:spPr>
            <a:xfrm flipH="false" flipV="false" rot="0">
              <a:off x="1452880" y="587121"/>
              <a:ext cx="16166846" cy="10116185"/>
            </a:xfrm>
            <a:custGeom>
              <a:avLst/>
              <a:gdLst/>
              <a:ahLst/>
              <a:cxnLst/>
              <a:rect r="r" b="b" t="t" l="l"/>
              <a:pathLst>
                <a:path h="10116185" w="16166846">
                  <a:moveTo>
                    <a:pt x="16166846" y="0"/>
                  </a:moveTo>
                  <a:lnTo>
                    <a:pt x="16166846" y="10116185"/>
                  </a:lnTo>
                  <a:lnTo>
                    <a:pt x="0" y="10116185"/>
                  </a:lnTo>
                  <a:lnTo>
                    <a:pt x="0" y="0"/>
                  </a:lnTo>
                  <a:lnTo>
                    <a:pt x="16166846" y="0"/>
                  </a:lnTo>
                  <a:close/>
                </a:path>
              </a:pathLst>
            </a:custGeom>
            <a:blipFill>
              <a:blip r:embed="rId17"/>
              <a:stretch>
                <a:fillRect l="-9323" t="0" r="-9323" b="0"/>
              </a:stretch>
            </a:blipFill>
          </p:spPr>
        </p:sp>
        <p:sp>
          <p:nvSpPr>
            <p:cNvPr name="Freeform 17" id="17"/>
            <p:cNvSpPr/>
            <p:nvPr/>
          </p:nvSpPr>
          <p:spPr>
            <a:xfrm flipH="false" flipV="false" rot="0">
              <a:off x="0" y="0"/>
              <a:ext cx="19050000" cy="12433300"/>
            </a:xfrm>
            <a:custGeom>
              <a:avLst/>
              <a:gdLst/>
              <a:ahLst/>
              <a:cxnLst/>
              <a:rect r="r" b="b" t="t" l="l"/>
              <a:pathLst>
                <a:path h="12433300" w="19050000">
                  <a:moveTo>
                    <a:pt x="19050000" y="0"/>
                  </a:moveTo>
                  <a:lnTo>
                    <a:pt x="19050000" y="12433300"/>
                  </a:lnTo>
                  <a:lnTo>
                    <a:pt x="0" y="12433300"/>
                  </a:lnTo>
                  <a:lnTo>
                    <a:pt x="0" y="0"/>
                  </a:lnTo>
                  <a:lnTo>
                    <a:pt x="19050000" y="0"/>
                  </a:lnTo>
                  <a:close/>
                </a:path>
              </a:pathLst>
            </a:custGeom>
            <a:blipFill>
              <a:blip r:embed="rId15"/>
              <a:stretch>
                <a:fillRect l="-301" t="0" r="-301" b="0"/>
              </a:stretch>
            </a:blipFill>
          </p:spPr>
        </p:sp>
      </p:grpSp>
      <p:sp>
        <p:nvSpPr>
          <p:cNvPr name="TextBox 18" id="18"/>
          <p:cNvSpPr txBox="true"/>
          <p:nvPr/>
        </p:nvSpPr>
        <p:spPr>
          <a:xfrm rot="0">
            <a:off x="2803557" y="379180"/>
            <a:ext cx="8432408" cy="1285875"/>
          </a:xfrm>
          <a:prstGeom prst="rect">
            <a:avLst/>
          </a:prstGeom>
        </p:spPr>
        <p:txBody>
          <a:bodyPr anchor="t" rtlCol="false" tIns="0" lIns="0" bIns="0" rIns="0">
            <a:spAutoFit/>
          </a:bodyPr>
          <a:lstStyle/>
          <a:p>
            <a:pPr algn="l">
              <a:lnSpc>
                <a:spcPts val="10500"/>
              </a:lnSpc>
            </a:pPr>
            <a:r>
              <a:rPr lang="en-US" sz="7500">
                <a:solidFill>
                  <a:srgbClr val="113B36"/>
                </a:solidFill>
                <a:latin typeface="Fredoka"/>
                <a:ea typeface="Fredoka"/>
                <a:cs typeface="Fredoka"/>
                <a:sym typeface="Fredoka"/>
              </a:rPr>
              <a:t>APLIKASI</a:t>
            </a:r>
          </a:p>
        </p:txBody>
      </p:sp>
      <p:sp>
        <p:nvSpPr>
          <p:cNvPr name="TextBox 19" id="19"/>
          <p:cNvSpPr txBox="true"/>
          <p:nvPr/>
        </p:nvSpPr>
        <p:spPr>
          <a:xfrm rot="0">
            <a:off x="6752908" y="1894713"/>
            <a:ext cx="4380667" cy="887095"/>
          </a:xfrm>
          <a:prstGeom prst="rect">
            <a:avLst/>
          </a:prstGeom>
        </p:spPr>
        <p:txBody>
          <a:bodyPr anchor="t" rtlCol="false" tIns="0" lIns="0" bIns="0" rIns="0">
            <a:spAutoFit/>
          </a:bodyPr>
          <a:lstStyle/>
          <a:p>
            <a:pPr algn="ctr">
              <a:lnSpc>
                <a:spcPts val="7279"/>
              </a:lnSpc>
            </a:pPr>
            <a:r>
              <a:rPr lang="en-US" sz="5199" b="true">
                <a:solidFill>
                  <a:srgbClr val="113B36"/>
                </a:solidFill>
                <a:latin typeface="Open Sans 1 Bold"/>
                <a:ea typeface="Open Sans 1 Bold"/>
                <a:cs typeface="Open Sans 1 Bold"/>
                <a:sym typeface="Open Sans 1 Bold"/>
              </a:rPr>
              <a:t>Landing Page</a:t>
            </a:r>
          </a:p>
        </p:txBody>
      </p:sp>
      <p:sp>
        <p:nvSpPr>
          <p:cNvPr name="TextBox 20" id="20"/>
          <p:cNvSpPr txBox="true"/>
          <p:nvPr/>
        </p:nvSpPr>
        <p:spPr>
          <a:xfrm rot="0">
            <a:off x="6073702" y="6452445"/>
            <a:ext cx="6064822" cy="580390"/>
          </a:xfrm>
          <a:prstGeom prst="rect">
            <a:avLst/>
          </a:prstGeom>
        </p:spPr>
        <p:txBody>
          <a:bodyPr anchor="t" rtlCol="false" tIns="0" lIns="0" bIns="0" rIns="0">
            <a:spAutoFit/>
          </a:bodyPr>
          <a:lstStyle/>
          <a:p>
            <a:pPr algn="ctr">
              <a:lnSpc>
                <a:spcPts val="4759"/>
              </a:lnSpc>
            </a:pPr>
            <a:r>
              <a:rPr lang="en-US" sz="3399">
                <a:solidFill>
                  <a:srgbClr val="113B36"/>
                </a:solidFill>
                <a:latin typeface="Open Sans 1"/>
                <a:ea typeface="Open Sans 1"/>
                <a:cs typeface="Open Sans 1"/>
                <a:sym typeface="Open Sans 1"/>
              </a:rPr>
              <a:t>Halaman utama</a:t>
            </a:r>
          </a:p>
        </p:txBody>
      </p:sp>
      <p:sp>
        <p:nvSpPr>
          <p:cNvPr name="TextBox 21" id="21"/>
          <p:cNvSpPr txBox="true"/>
          <p:nvPr/>
        </p:nvSpPr>
        <p:spPr>
          <a:xfrm rot="0">
            <a:off x="259570" y="8598638"/>
            <a:ext cx="6064822" cy="580390"/>
          </a:xfrm>
          <a:prstGeom prst="rect">
            <a:avLst/>
          </a:prstGeom>
        </p:spPr>
        <p:txBody>
          <a:bodyPr anchor="t" rtlCol="false" tIns="0" lIns="0" bIns="0" rIns="0">
            <a:spAutoFit/>
          </a:bodyPr>
          <a:lstStyle/>
          <a:p>
            <a:pPr algn="ctr">
              <a:lnSpc>
                <a:spcPts val="4759"/>
              </a:lnSpc>
            </a:pPr>
            <a:r>
              <a:rPr lang="en-US" sz="3399">
                <a:solidFill>
                  <a:srgbClr val="113B36"/>
                </a:solidFill>
                <a:latin typeface="Open Sans 1"/>
                <a:ea typeface="Open Sans 1"/>
                <a:cs typeface="Open Sans 1"/>
                <a:sym typeface="Open Sans 1"/>
              </a:rPr>
              <a:t>Halaman barang</a:t>
            </a:r>
          </a:p>
        </p:txBody>
      </p:sp>
      <p:sp>
        <p:nvSpPr>
          <p:cNvPr name="TextBox 22" id="22"/>
          <p:cNvSpPr txBox="true"/>
          <p:nvPr/>
        </p:nvSpPr>
        <p:spPr>
          <a:xfrm rot="0">
            <a:off x="11501218" y="8341781"/>
            <a:ext cx="6064822" cy="580390"/>
          </a:xfrm>
          <a:prstGeom prst="rect">
            <a:avLst/>
          </a:prstGeom>
        </p:spPr>
        <p:txBody>
          <a:bodyPr anchor="t" rtlCol="false" tIns="0" lIns="0" bIns="0" rIns="0">
            <a:spAutoFit/>
          </a:bodyPr>
          <a:lstStyle/>
          <a:p>
            <a:pPr algn="ctr">
              <a:lnSpc>
                <a:spcPts val="4759"/>
              </a:lnSpc>
            </a:pPr>
            <a:r>
              <a:rPr lang="en-US" sz="3399">
                <a:solidFill>
                  <a:srgbClr val="113B36"/>
                </a:solidFill>
                <a:latin typeface="Open Sans 1"/>
                <a:ea typeface="Open Sans 1"/>
                <a:cs typeface="Open Sans 1"/>
                <a:sym typeface="Open Sans 1"/>
              </a:rPr>
              <a:t>Halaman kontak kami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81366" y="499306"/>
            <a:ext cx="550741" cy="1454150"/>
          </a:xfrm>
          <a:custGeom>
            <a:avLst/>
            <a:gdLst/>
            <a:ahLst/>
            <a:cxnLst/>
            <a:rect r="r" b="b" t="t" l="l"/>
            <a:pathLst>
              <a:path h="1454150" w="550741">
                <a:moveTo>
                  <a:pt x="0" y="0"/>
                </a:moveTo>
                <a:lnTo>
                  <a:pt x="550741" y="0"/>
                </a:lnTo>
                <a:lnTo>
                  <a:pt x="550741" y="1454149"/>
                </a:lnTo>
                <a:lnTo>
                  <a:pt x="0" y="14541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3946" y="-271352"/>
            <a:ext cx="2224807" cy="2224807"/>
          </a:xfrm>
          <a:custGeom>
            <a:avLst/>
            <a:gdLst/>
            <a:ahLst/>
            <a:cxnLst/>
            <a:rect r="r" b="b" t="t" l="l"/>
            <a:pathLst>
              <a:path h="2224807" w="2224807">
                <a:moveTo>
                  <a:pt x="0" y="0"/>
                </a:moveTo>
                <a:lnTo>
                  <a:pt x="2224807" y="0"/>
                </a:lnTo>
                <a:lnTo>
                  <a:pt x="2224807" y="2224807"/>
                </a:lnTo>
                <a:lnTo>
                  <a:pt x="0" y="2224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566040" y="1989963"/>
            <a:ext cx="1443921" cy="4114800"/>
          </a:xfrm>
          <a:custGeom>
            <a:avLst/>
            <a:gdLst/>
            <a:ahLst/>
            <a:cxnLst/>
            <a:rect r="r" b="b" t="t" l="l"/>
            <a:pathLst>
              <a:path h="4114800" w="1443921">
                <a:moveTo>
                  <a:pt x="0" y="0"/>
                </a:moveTo>
                <a:lnTo>
                  <a:pt x="1443920" y="0"/>
                </a:lnTo>
                <a:lnTo>
                  <a:pt x="144392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803557" y="1226380"/>
            <a:ext cx="7315200" cy="489197"/>
          </a:xfrm>
          <a:custGeom>
            <a:avLst/>
            <a:gdLst/>
            <a:ahLst/>
            <a:cxnLst/>
            <a:rect r="r" b="b" t="t" l="l"/>
            <a:pathLst>
              <a:path h="489197" w="7315200">
                <a:moveTo>
                  <a:pt x="0" y="0"/>
                </a:moveTo>
                <a:lnTo>
                  <a:pt x="7315200" y="0"/>
                </a:lnTo>
                <a:lnTo>
                  <a:pt x="7315200" y="489197"/>
                </a:lnTo>
                <a:lnTo>
                  <a:pt x="0" y="48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15042765" y="7066788"/>
            <a:ext cx="3406009" cy="3406009"/>
          </a:xfrm>
          <a:custGeom>
            <a:avLst/>
            <a:gdLst/>
            <a:ahLst/>
            <a:cxnLst/>
            <a:rect r="r" b="b" t="t" l="l"/>
            <a:pathLst>
              <a:path h="3406009" w="3406009">
                <a:moveTo>
                  <a:pt x="3406009" y="0"/>
                </a:moveTo>
                <a:lnTo>
                  <a:pt x="0" y="0"/>
                </a:lnTo>
                <a:lnTo>
                  <a:pt x="0" y="3406009"/>
                </a:lnTo>
                <a:lnTo>
                  <a:pt x="3406009" y="3406009"/>
                </a:lnTo>
                <a:lnTo>
                  <a:pt x="3406009"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14028" y="7066788"/>
            <a:ext cx="3406009" cy="3406009"/>
          </a:xfrm>
          <a:custGeom>
            <a:avLst/>
            <a:gdLst/>
            <a:ahLst/>
            <a:cxnLst/>
            <a:rect r="r" b="b" t="t" l="l"/>
            <a:pathLst>
              <a:path h="3406009" w="3406009">
                <a:moveTo>
                  <a:pt x="0" y="0"/>
                </a:moveTo>
                <a:lnTo>
                  <a:pt x="3406009" y="0"/>
                </a:lnTo>
                <a:lnTo>
                  <a:pt x="3406009" y="3406009"/>
                </a:lnTo>
                <a:lnTo>
                  <a:pt x="0" y="34060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0866158" y="15476"/>
            <a:ext cx="7315200" cy="1143000"/>
          </a:xfrm>
          <a:custGeom>
            <a:avLst/>
            <a:gdLst/>
            <a:ahLst/>
            <a:cxnLst/>
            <a:rect r="r" b="b" t="t" l="l"/>
            <a:pathLst>
              <a:path h="1143000" w="7315200">
                <a:moveTo>
                  <a:pt x="0" y="0"/>
                </a:moveTo>
                <a:lnTo>
                  <a:pt x="7315200" y="0"/>
                </a:lnTo>
                <a:lnTo>
                  <a:pt x="7315200" y="1143000"/>
                </a:lnTo>
                <a:lnTo>
                  <a:pt x="0" y="11430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9" id="9"/>
          <p:cNvGrpSpPr>
            <a:grpSpLocks noChangeAspect="true"/>
          </p:cNvGrpSpPr>
          <p:nvPr/>
        </p:nvGrpSpPr>
        <p:grpSpPr>
          <a:xfrm rot="0">
            <a:off x="2222429" y="1733105"/>
            <a:ext cx="5843305" cy="3813731"/>
            <a:chOff x="0" y="0"/>
            <a:chExt cx="19050000" cy="12433300"/>
          </a:xfrm>
        </p:grpSpPr>
        <p:sp>
          <p:nvSpPr>
            <p:cNvPr name="Freeform 10" id="10"/>
            <p:cNvSpPr/>
            <p:nvPr/>
          </p:nvSpPr>
          <p:spPr>
            <a:xfrm flipH="false" flipV="false" rot="0">
              <a:off x="1452880" y="587121"/>
              <a:ext cx="16166846" cy="10116185"/>
            </a:xfrm>
            <a:custGeom>
              <a:avLst/>
              <a:gdLst/>
              <a:ahLst/>
              <a:cxnLst/>
              <a:rect r="r" b="b" t="t" l="l"/>
              <a:pathLst>
                <a:path h="10116185" w="16166846">
                  <a:moveTo>
                    <a:pt x="16166846" y="0"/>
                  </a:moveTo>
                  <a:lnTo>
                    <a:pt x="16166846" y="10116185"/>
                  </a:lnTo>
                  <a:lnTo>
                    <a:pt x="0" y="10116185"/>
                  </a:lnTo>
                  <a:lnTo>
                    <a:pt x="0" y="0"/>
                  </a:lnTo>
                  <a:lnTo>
                    <a:pt x="16166846" y="0"/>
                  </a:lnTo>
                  <a:close/>
                </a:path>
              </a:pathLst>
            </a:custGeom>
            <a:blipFill>
              <a:blip r:embed="rId14"/>
              <a:stretch>
                <a:fillRect l="-13044" t="0" r="-13044" b="0"/>
              </a:stretch>
            </a:blipFill>
          </p:spPr>
        </p:sp>
        <p:sp>
          <p:nvSpPr>
            <p:cNvPr name="Freeform 11" id="11"/>
            <p:cNvSpPr/>
            <p:nvPr/>
          </p:nvSpPr>
          <p:spPr>
            <a:xfrm flipH="false" flipV="false" rot="0">
              <a:off x="0" y="0"/>
              <a:ext cx="19050000" cy="12433300"/>
            </a:xfrm>
            <a:custGeom>
              <a:avLst/>
              <a:gdLst/>
              <a:ahLst/>
              <a:cxnLst/>
              <a:rect r="r" b="b" t="t" l="l"/>
              <a:pathLst>
                <a:path h="12433300" w="19050000">
                  <a:moveTo>
                    <a:pt x="19050000" y="0"/>
                  </a:moveTo>
                  <a:lnTo>
                    <a:pt x="19050000" y="12433300"/>
                  </a:lnTo>
                  <a:lnTo>
                    <a:pt x="0" y="12433300"/>
                  </a:lnTo>
                  <a:lnTo>
                    <a:pt x="0" y="0"/>
                  </a:lnTo>
                  <a:lnTo>
                    <a:pt x="19050000" y="0"/>
                  </a:lnTo>
                  <a:close/>
                </a:path>
              </a:pathLst>
            </a:custGeom>
            <a:blipFill>
              <a:blip r:embed="rId15"/>
              <a:stretch>
                <a:fillRect l="-301" t="0" r="-301" b="0"/>
              </a:stretch>
            </a:blipFill>
          </p:spPr>
        </p:sp>
      </p:grpSp>
      <p:grpSp>
        <p:nvGrpSpPr>
          <p:cNvPr name="Group 12" id="12"/>
          <p:cNvGrpSpPr>
            <a:grpSpLocks noChangeAspect="true"/>
          </p:cNvGrpSpPr>
          <p:nvPr/>
        </p:nvGrpSpPr>
        <p:grpSpPr>
          <a:xfrm rot="0">
            <a:off x="8790878" y="6005311"/>
            <a:ext cx="5843305" cy="3813731"/>
            <a:chOff x="0" y="0"/>
            <a:chExt cx="19050000" cy="12433300"/>
          </a:xfrm>
        </p:grpSpPr>
        <p:sp>
          <p:nvSpPr>
            <p:cNvPr name="Freeform 13" id="13"/>
            <p:cNvSpPr/>
            <p:nvPr/>
          </p:nvSpPr>
          <p:spPr>
            <a:xfrm flipH="false" flipV="false" rot="0">
              <a:off x="1452880" y="587121"/>
              <a:ext cx="16166846" cy="10116185"/>
            </a:xfrm>
            <a:custGeom>
              <a:avLst/>
              <a:gdLst/>
              <a:ahLst/>
              <a:cxnLst/>
              <a:rect r="r" b="b" t="t" l="l"/>
              <a:pathLst>
                <a:path h="10116185" w="16166846">
                  <a:moveTo>
                    <a:pt x="16166846" y="0"/>
                  </a:moveTo>
                  <a:lnTo>
                    <a:pt x="16166846" y="10116185"/>
                  </a:lnTo>
                  <a:lnTo>
                    <a:pt x="0" y="10116185"/>
                  </a:lnTo>
                  <a:lnTo>
                    <a:pt x="0" y="0"/>
                  </a:lnTo>
                  <a:lnTo>
                    <a:pt x="16166846" y="0"/>
                  </a:lnTo>
                  <a:close/>
                </a:path>
              </a:pathLst>
            </a:custGeom>
            <a:blipFill>
              <a:blip r:embed="rId16"/>
              <a:stretch>
                <a:fillRect l="0" t="0" r="-19084" b="0"/>
              </a:stretch>
            </a:blipFill>
          </p:spPr>
        </p:sp>
        <p:sp>
          <p:nvSpPr>
            <p:cNvPr name="Freeform 14" id="14"/>
            <p:cNvSpPr/>
            <p:nvPr/>
          </p:nvSpPr>
          <p:spPr>
            <a:xfrm flipH="false" flipV="false" rot="0">
              <a:off x="0" y="0"/>
              <a:ext cx="19050000" cy="12433300"/>
            </a:xfrm>
            <a:custGeom>
              <a:avLst/>
              <a:gdLst/>
              <a:ahLst/>
              <a:cxnLst/>
              <a:rect r="r" b="b" t="t" l="l"/>
              <a:pathLst>
                <a:path h="12433300" w="19050000">
                  <a:moveTo>
                    <a:pt x="19050000" y="0"/>
                  </a:moveTo>
                  <a:lnTo>
                    <a:pt x="19050000" y="12433300"/>
                  </a:lnTo>
                  <a:lnTo>
                    <a:pt x="0" y="12433300"/>
                  </a:lnTo>
                  <a:lnTo>
                    <a:pt x="0" y="0"/>
                  </a:lnTo>
                  <a:lnTo>
                    <a:pt x="19050000" y="0"/>
                  </a:lnTo>
                  <a:close/>
                </a:path>
              </a:pathLst>
            </a:custGeom>
            <a:blipFill>
              <a:blip r:embed="rId15"/>
              <a:stretch>
                <a:fillRect l="-301" t="0" r="-301" b="0"/>
              </a:stretch>
            </a:blipFill>
          </p:spPr>
        </p:sp>
      </p:grpSp>
      <p:grpSp>
        <p:nvGrpSpPr>
          <p:cNvPr name="Group 15" id="15"/>
          <p:cNvGrpSpPr>
            <a:grpSpLocks noChangeAspect="true"/>
          </p:cNvGrpSpPr>
          <p:nvPr/>
        </p:nvGrpSpPr>
        <p:grpSpPr>
          <a:xfrm rot="0">
            <a:off x="2203396" y="5933440"/>
            <a:ext cx="5881371" cy="3838575"/>
            <a:chOff x="0" y="0"/>
            <a:chExt cx="19050000" cy="12433300"/>
          </a:xfrm>
        </p:grpSpPr>
        <p:sp>
          <p:nvSpPr>
            <p:cNvPr name="Freeform 16" id="16"/>
            <p:cNvSpPr/>
            <p:nvPr/>
          </p:nvSpPr>
          <p:spPr>
            <a:xfrm flipH="false" flipV="false" rot="0">
              <a:off x="1452880" y="587121"/>
              <a:ext cx="16166846" cy="10116185"/>
            </a:xfrm>
            <a:custGeom>
              <a:avLst/>
              <a:gdLst/>
              <a:ahLst/>
              <a:cxnLst/>
              <a:rect r="r" b="b" t="t" l="l"/>
              <a:pathLst>
                <a:path h="10116185" w="16166846">
                  <a:moveTo>
                    <a:pt x="16166846" y="0"/>
                  </a:moveTo>
                  <a:lnTo>
                    <a:pt x="16166846" y="10116185"/>
                  </a:lnTo>
                  <a:lnTo>
                    <a:pt x="0" y="10116185"/>
                  </a:lnTo>
                  <a:lnTo>
                    <a:pt x="0" y="0"/>
                  </a:lnTo>
                  <a:lnTo>
                    <a:pt x="16166846" y="0"/>
                  </a:lnTo>
                  <a:close/>
                </a:path>
              </a:pathLst>
            </a:custGeom>
            <a:blipFill>
              <a:blip r:embed="rId17"/>
              <a:stretch>
                <a:fillRect l="0" t="0" r="-19011" b="0"/>
              </a:stretch>
            </a:blipFill>
          </p:spPr>
        </p:sp>
        <p:sp>
          <p:nvSpPr>
            <p:cNvPr name="Freeform 17" id="17"/>
            <p:cNvSpPr/>
            <p:nvPr/>
          </p:nvSpPr>
          <p:spPr>
            <a:xfrm flipH="false" flipV="false" rot="0">
              <a:off x="0" y="0"/>
              <a:ext cx="19050000" cy="12433300"/>
            </a:xfrm>
            <a:custGeom>
              <a:avLst/>
              <a:gdLst/>
              <a:ahLst/>
              <a:cxnLst/>
              <a:rect r="r" b="b" t="t" l="l"/>
              <a:pathLst>
                <a:path h="12433300" w="19050000">
                  <a:moveTo>
                    <a:pt x="19050000" y="0"/>
                  </a:moveTo>
                  <a:lnTo>
                    <a:pt x="19050000" y="12433300"/>
                  </a:lnTo>
                  <a:lnTo>
                    <a:pt x="0" y="12433300"/>
                  </a:lnTo>
                  <a:lnTo>
                    <a:pt x="0" y="0"/>
                  </a:lnTo>
                  <a:lnTo>
                    <a:pt x="19050000" y="0"/>
                  </a:lnTo>
                  <a:close/>
                </a:path>
              </a:pathLst>
            </a:custGeom>
            <a:blipFill>
              <a:blip r:embed="rId15"/>
              <a:stretch>
                <a:fillRect l="-301" t="0" r="-301" b="0"/>
              </a:stretch>
            </a:blipFill>
          </p:spPr>
        </p:sp>
      </p:grpSp>
      <p:grpSp>
        <p:nvGrpSpPr>
          <p:cNvPr name="Group 18" id="18"/>
          <p:cNvGrpSpPr>
            <a:grpSpLocks noChangeAspect="true"/>
          </p:cNvGrpSpPr>
          <p:nvPr/>
        </p:nvGrpSpPr>
        <p:grpSpPr>
          <a:xfrm rot="0">
            <a:off x="9144000" y="1782252"/>
            <a:ext cx="5843305" cy="3813731"/>
            <a:chOff x="0" y="0"/>
            <a:chExt cx="19050000" cy="12433300"/>
          </a:xfrm>
        </p:grpSpPr>
        <p:sp>
          <p:nvSpPr>
            <p:cNvPr name="Freeform 19" id="19"/>
            <p:cNvSpPr/>
            <p:nvPr/>
          </p:nvSpPr>
          <p:spPr>
            <a:xfrm flipH="false" flipV="false" rot="0">
              <a:off x="1452880" y="587121"/>
              <a:ext cx="16166846" cy="10116185"/>
            </a:xfrm>
            <a:custGeom>
              <a:avLst/>
              <a:gdLst/>
              <a:ahLst/>
              <a:cxnLst/>
              <a:rect r="r" b="b" t="t" l="l"/>
              <a:pathLst>
                <a:path h="10116185" w="16166846">
                  <a:moveTo>
                    <a:pt x="16166846" y="0"/>
                  </a:moveTo>
                  <a:lnTo>
                    <a:pt x="16166846" y="10116185"/>
                  </a:lnTo>
                  <a:lnTo>
                    <a:pt x="0" y="10116185"/>
                  </a:lnTo>
                  <a:lnTo>
                    <a:pt x="0" y="0"/>
                  </a:lnTo>
                  <a:lnTo>
                    <a:pt x="16166846" y="0"/>
                  </a:lnTo>
                  <a:close/>
                </a:path>
              </a:pathLst>
            </a:custGeom>
            <a:blipFill>
              <a:blip r:embed="rId18"/>
              <a:stretch>
                <a:fillRect l="-1343" t="0" r="-18571" b="0"/>
              </a:stretch>
            </a:blipFill>
          </p:spPr>
        </p:sp>
        <p:sp>
          <p:nvSpPr>
            <p:cNvPr name="Freeform 20" id="20"/>
            <p:cNvSpPr/>
            <p:nvPr/>
          </p:nvSpPr>
          <p:spPr>
            <a:xfrm flipH="false" flipV="false" rot="0">
              <a:off x="0" y="0"/>
              <a:ext cx="19050000" cy="12433300"/>
            </a:xfrm>
            <a:custGeom>
              <a:avLst/>
              <a:gdLst/>
              <a:ahLst/>
              <a:cxnLst/>
              <a:rect r="r" b="b" t="t" l="l"/>
              <a:pathLst>
                <a:path h="12433300" w="19050000">
                  <a:moveTo>
                    <a:pt x="19050000" y="0"/>
                  </a:moveTo>
                  <a:lnTo>
                    <a:pt x="19050000" y="12433300"/>
                  </a:lnTo>
                  <a:lnTo>
                    <a:pt x="0" y="12433300"/>
                  </a:lnTo>
                  <a:lnTo>
                    <a:pt x="0" y="0"/>
                  </a:lnTo>
                  <a:lnTo>
                    <a:pt x="19050000" y="0"/>
                  </a:lnTo>
                  <a:close/>
                </a:path>
              </a:pathLst>
            </a:custGeom>
            <a:blipFill>
              <a:blip r:embed="rId15"/>
              <a:stretch>
                <a:fillRect l="-301" t="0" r="-301" b="0"/>
              </a:stretch>
            </a:blipFill>
          </p:spPr>
        </p:sp>
      </p:grpSp>
      <p:sp>
        <p:nvSpPr>
          <p:cNvPr name="TextBox 21" id="21"/>
          <p:cNvSpPr txBox="true"/>
          <p:nvPr/>
        </p:nvSpPr>
        <p:spPr>
          <a:xfrm rot="0">
            <a:off x="3476047" y="167835"/>
            <a:ext cx="5314831" cy="887095"/>
          </a:xfrm>
          <a:prstGeom prst="rect">
            <a:avLst/>
          </a:prstGeom>
        </p:spPr>
        <p:txBody>
          <a:bodyPr anchor="t" rtlCol="false" tIns="0" lIns="0" bIns="0" rIns="0">
            <a:spAutoFit/>
          </a:bodyPr>
          <a:lstStyle/>
          <a:p>
            <a:pPr algn="ctr">
              <a:lnSpc>
                <a:spcPts val="7279"/>
              </a:lnSpc>
            </a:pPr>
            <a:r>
              <a:rPr lang="en-US" sz="5199" b="true">
                <a:solidFill>
                  <a:srgbClr val="113B36"/>
                </a:solidFill>
                <a:latin typeface="Open Sans 1 Bold"/>
                <a:ea typeface="Open Sans 1 Bold"/>
                <a:cs typeface="Open Sans 1 Bold"/>
                <a:sym typeface="Open Sans 1 Bold"/>
              </a:rPr>
              <a:t>Halaman Admin</a:t>
            </a:r>
          </a:p>
        </p:txBody>
      </p:sp>
      <p:sp>
        <p:nvSpPr>
          <p:cNvPr name="TextBox 22" id="22"/>
          <p:cNvSpPr txBox="true"/>
          <p:nvPr/>
        </p:nvSpPr>
        <p:spPr>
          <a:xfrm rot="0">
            <a:off x="2203396" y="4966445"/>
            <a:ext cx="5843305" cy="580390"/>
          </a:xfrm>
          <a:prstGeom prst="rect">
            <a:avLst/>
          </a:prstGeom>
        </p:spPr>
        <p:txBody>
          <a:bodyPr anchor="t" rtlCol="false" tIns="0" lIns="0" bIns="0" rIns="0">
            <a:spAutoFit/>
          </a:bodyPr>
          <a:lstStyle/>
          <a:p>
            <a:pPr algn="ctr">
              <a:lnSpc>
                <a:spcPts val="4759"/>
              </a:lnSpc>
            </a:pPr>
            <a:r>
              <a:rPr lang="en-US" sz="3399">
                <a:solidFill>
                  <a:srgbClr val="113B36"/>
                </a:solidFill>
                <a:latin typeface="Open Sans 1"/>
                <a:ea typeface="Open Sans 1"/>
                <a:cs typeface="Open Sans 1"/>
                <a:sym typeface="Open Sans 1"/>
              </a:rPr>
              <a:t>Halaman Dashboard</a:t>
            </a:r>
          </a:p>
        </p:txBody>
      </p:sp>
      <p:sp>
        <p:nvSpPr>
          <p:cNvPr name="TextBox 23" id="23"/>
          <p:cNvSpPr txBox="true"/>
          <p:nvPr/>
        </p:nvSpPr>
        <p:spPr>
          <a:xfrm rot="0">
            <a:off x="9199460" y="4819967"/>
            <a:ext cx="5843305" cy="580390"/>
          </a:xfrm>
          <a:prstGeom prst="rect">
            <a:avLst/>
          </a:prstGeom>
        </p:spPr>
        <p:txBody>
          <a:bodyPr anchor="t" rtlCol="false" tIns="0" lIns="0" bIns="0" rIns="0">
            <a:spAutoFit/>
          </a:bodyPr>
          <a:lstStyle/>
          <a:p>
            <a:pPr algn="ctr">
              <a:lnSpc>
                <a:spcPts val="4759"/>
              </a:lnSpc>
            </a:pPr>
            <a:r>
              <a:rPr lang="en-US" sz="3399">
                <a:solidFill>
                  <a:srgbClr val="24282C"/>
                </a:solidFill>
                <a:latin typeface="Open Sans 1"/>
                <a:ea typeface="Open Sans 1"/>
                <a:cs typeface="Open Sans 1"/>
                <a:sym typeface="Open Sans 1"/>
              </a:rPr>
              <a:t>Halaman Data Master</a:t>
            </a:r>
          </a:p>
        </p:txBody>
      </p:sp>
      <p:sp>
        <p:nvSpPr>
          <p:cNvPr name="TextBox 24" id="24"/>
          <p:cNvSpPr txBox="true"/>
          <p:nvPr/>
        </p:nvSpPr>
        <p:spPr>
          <a:xfrm rot="0">
            <a:off x="2356737" y="9191625"/>
            <a:ext cx="5843305" cy="580390"/>
          </a:xfrm>
          <a:prstGeom prst="rect">
            <a:avLst/>
          </a:prstGeom>
        </p:spPr>
        <p:txBody>
          <a:bodyPr anchor="t" rtlCol="false" tIns="0" lIns="0" bIns="0" rIns="0">
            <a:spAutoFit/>
          </a:bodyPr>
          <a:lstStyle/>
          <a:p>
            <a:pPr algn="ctr">
              <a:lnSpc>
                <a:spcPts val="4759"/>
              </a:lnSpc>
            </a:pPr>
            <a:r>
              <a:rPr lang="en-US" sz="3399">
                <a:solidFill>
                  <a:srgbClr val="24282C"/>
                </a:solidFill>
                <a:latin typeface="Open Sans 1"/>
                <a:ea typeface="Open Sans 1"/>
                <a:cs typeface="Open Sans 1"/>
                <a:sym typeface="Open Sans 1"/>
              </a:rPr>
              <a:t>Halaman Transaksi</a:t>
            </a:r>
          </a:p>
        </p:txBody>
      </p:sp>
      <p:sp>
        <p:nvSpPr>
          <p:cNvPr name="TextBox 25" id="25"/>
          <p:cNvSpPr txBox="true"/>
          <p:nvPr/>
        </p:nvSpPr>
        <p:spPr>
          <a:xfrm rot="0">
            <a:off x="8494342" y="9191625"/>
            <a:ext cx="5843305" cy="580390"/>
          </a:xfrm>
          <a:prstGeom prst="rect">
            <a:avLst/>
          </a:prstGeom>
        </p:spPr>
        <p:txBody>
          <a:bodyPr anchor="t" rtlCol="false" tIns="0" lIns="0" bIns="0" rIns="0">
            <a:spAutoFit/>
          </a:bodyPr>
          <a:lstStyle/>
          <a:p>
            <a:pPr algn="ctr">
              <a:lnSpc>
                <a:spcPts val="4759"/>
              </a:lnSpc>
            </a:pPr>
            <a:r>
              <a:rPr lang="en-US" sz="3399">
                <a:solidFill>
                  <a:srgbClr val="24282C"/>
                </a:solidFill>
                <a:latin typeface="Open Sans 1"/>
                <a:ea typeface="Open Sans 1"/>
                <a:cs typeface="Open Sans 1"/>
                <a:sym typeface="Open Sans 1"/>
              </a:rPr>
              <a:t>Halaman Transaksi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81366" y="499306"/>
            <a:ext cx="550741" cy="1454150"/>
          </a:xfrm>
          <a:custGeom>
            <a:avLst/>
            <a:gdLst/>
            <a:ahLst/>
            <a:cxnLst/>
            <a:rect r="r" b="b" t="t" l="l"/>
            <a:pathLst>
              <a:path h="1454150" w="550741">
                <a:moveTo>
                  <a:pt x="0" y="0"/>
                </a:moveTo>
                <a:lnTo>
                  <a:pt x="550741" y="0"/>
                </a:lnTo>
                <a:lnTo>
                  <a:pt x="550741" y="1454149"/>
                </a:lnTo>
                <a:lnTo>
                  <a:pt x="0" y="14541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3946" y="-271352"/>
            <a:ext cx="2224807" cy="2224807"/>
          </a:xfrm>
          <a:custGeom>
            <a:avLst/>
            <a:gdLst/>
            <a:ahLst/>
            <a:cxnLst/>
            <a:rect r="r" b="b" t="t" l="l"/>
            <a:pathLst>
              <a:path h="2224807" w="2224807">
                <a:moveTo>
                  <a:pt x="0" y="0"/>
                </a:moveTo>
                <a:lnTo>
                  <a:pt x="2224807" y="0"/>
                </a:lnTo>
                <a:lnTo>
                  <a:pt x="2224807" y="2224807"/>
                </a:lnTo>
                <a:lnTo>
                  <a:pt x="0" y="2224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566040" y="1989963"/>
            <a:ext cx="1443921" cy="4114800"/>
          </a:xfrm>
          <a:custGeom>
            <a:avLst/>
            <a:gdLst/>
            <a:ahLst/>
            <a:cxnLst/>
            <a:rect r="r" b="b" t="t" l="l"/>
            <a:pathLst>
              <a:path h="4114800" w="1443921">
                <a:moveTo>
                  <a:pt x="0" y="0"/>
                </a:moveTo>
                <a:lnTo>
                  <a:pt x="1443920" y="0"/>
                </a:lnTo>
                <a:lnTo>
                  <a:pt x="144392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803557" y="1489292"/>
            <a:ext cx="7315200" cy="489197"/>
          </a:xfrm>
          <a:custGeom>
            <a:avLst/>
            <a:gdLst/>
            <a:ahLst/>
            <a:cxnLst/>
            <a:rect r="r" b="b" t="t" l="l"/>
            <a:pathLst>
              <a:path h="489197" w="7315200">
                <a:moveTo>
                  <a:pt x="0" y="0"/>
                </a:moveTo>
                <a:lnTo>
                  <a:pt x="7315200" y="0"/>
                </a:lnTo>
                <a:lnTo>
                  <a:pt x="7315200" y="489197"/>
                </a:lnTo>
                <a:lnTo>
                  <a:pt x="0" y="4891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15042765" y="7066788"/>
            <a:ext cx="3406009" cy="3406009"/>
          </a:xfrm>
          <a:custGeom>
            <a:avLst/>
            <a:gdLst/>
            <a:ahLst/>
            <a:cxnLst/>
            <a:rect r="r" b="b" t="t" l="l"/>
            <a:pathLst>
              <a:path h="3406009" w="3406009">
                <a:moveTo>
                  <a:pt x="3406009" y="0"/>
                </a:moveTo>
                <a:lnTo>
                  <a:pt x="0" y="0"/>
                </a:lnTo>
                <a:lnTo>
                  <a:pt x="0" y="3406009"/>
                </a:lnTo>
                <a:lnTo>
                  <a:pt x="3406009" y="3406009"/>
                </a:lnTo>
                <a:lnTo>
                  <a:pt x="3406009"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14028" y="7066788"/>
            <a:ext cx="3406009" cy="3406009"/>
          </a:xfrm>
          <a:custGeom>
            <a:avLst/>
            <a:gdLst/>
            <a:ahLst/>
            <a:cxnLst/>
            <a:rect r="r" b="b" t="t" l="l"/>
            <a:pathLst>
              <a:path h="3406009" w="3406009">
                <a:moveTo>
                  <a:pt x="0" y="0"/>
                </a:moveTo>
                <a:lnTo>
                  <a:pt x="3406009" y="0"/>
                </a:lnTo>
                <a:lnTo>
                  <a:pt x="3406009" y="3406009"/>
                </a:lnTo>
                <a:lnTo>
                  <a:pt x="0" y="34060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1023728" y="-29544"/>
            <a:ext cx="7315200" cy="1143000"/>
          </a:xfrm>
          <a:custGeom>
            <a:avLst/>
            <a:gdLst/>
            <a:ahLst/>
            <a:cxnLst/>
            <a:rect r="r" b="b" t="t" l="l"/>
            <a:pathLst>
              <a:path h="1143000" w="7315200">
                <a:moveTo>
                  <a:pt x="0" y="0"/>
                </a:moveTo>
                <a:lnTo>
                  <a:pt x="7315200" y="0"/>
                </a:lnTo>
                <a:lnTo>
                  <a:pt x="7315200" y="1143000"/>
                </a:lnTo>
                <a:lnTo>
                  <a:pt x="0" y="11430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2803557" y="379180"/>
            <a:ext cx="8432408" cy="1285875"/>
          </a:xfrm>
          <a:prstGeom prst="rect">
            <a:avLst/>
          </a:prstGeom>
        </p:spPr>
        <p:txBody>
          <a:bodyPr anchor="t" rtlCol="false" tIns="0" lIns="0" bIns="0" rIns="0">
            <a:spAutoFit/>
          </a:bodyPr>
          <a:lstStyle/>
          <a:p>
            <a:pPr algn="l">
              <a:lnSpc>
                <a:spcPts val="10500"/>
              </a:lnSpc>
            </a:pPr>
            <a:r>
              <a:rPr lang="en-US" sz="7500">
                <a:solidFill>
                  <a:srgbClr val="113B36"/>
                </a:solidFill>
                <a:latin typeface="Fredoka"/>
                <a:ea typeface="Fredoka"/>
                <a:cs typeface="Fredoka"/>
                <a:sym typeface="Fredoka"/>
              </a:rPr>
              <a:t>Kesimpulan</a:t>
            </a:r>
          </a:p>
        </p:txBody>
      </p:sp>
      <p:sp>
        <p:nvSpPr>
          <p:cNvPr name="TextBox 10" id="10"/>
          <p:cNvSpPr txBox="true"/>
          <p:nvPr/>
        </p:nvSpPr>
        <p:spPr>
          <a:xfrm rot="0">
            <a:off x="2803557" y="2630143"/>
            <a:ext cx="12239208" cy="4751300"/>
          </a:xfrm>
          <a:prstGeom prst="rect">
            <a:avLst/>
          </a:prstGeom>
        </p:spPr>
        <p:txBody>
          <a:bodyPr anchor="t" rtlCol="false" tIns="0" lIns="0" bIns="0" rIns="0">
            <a:spAutoFit/>
          </a:bodyPr>
          <a:lstStyle/>
          <a:p>
            <a:pPr algn="just">
              <a:lnSpc>
                <a:spcPts val="3767"/>
              </a:lnSpc>
            </a:pPr>
            <a:r>
              <a:rPr lang="en-US" sz="2690">
                <a:solidFill>
                  <a:srgbClr val="113B36"/>
                </a:solidFill>
                <a:latin typeface="Open Sans 2"/>
                <a:ea typeface="Open Sans 2"/>
                <a:cs typeface="Open Sans 2"/>
                <a:sym typeface="Open Sans 2"/>
              </a:rPr>
              <a:t>Pengembangan website sistem inventaris pada UMKM Toko Pertanian Mbah Meth berhasil memberikan solusi atas permasalahan pencatatan manual yang sebelumnya tidak akurat dan sulit dilacak. Sistem berbasis web ini mampu mencatat barang masuk dan keluar secara lebih terstruktur, menyediakan informasi stok gudang dan etalase secara real-time, serta mempermudah pengelolaan inventaris oleh admin maupun pemilik. Melalui penerapan database yang terorganisasi dan fitur CRUD yang optimal, sistem ini mampu meningkatkan efisiensi operasional, akurasi data, dan kualitas pelayanan. Secara keseluruhan, sistem inventaris yang dikembangkan telah memenuhi kebutuhan dan tujuan yang direncanakan.</a:t>
            </a:r>
          </a:p>
        </p:txBody>
      </p:sp>
      <p:sp>
        <p:nvSpPr>
          <p:cNvPr name="TextBox 11" id="11"/>
          <p:cNvSpPr txBox="true"/>
          <p:nvPr/>
        </p:nvSpPr>
        <p:spPr>
          <a:xfrm rot="0">
            <a:off x="2356737" y="7657668"/>
            <a:ext cx="14281696" cy="698500"/>
          </a:xfrm>
          <a:prstGeom prst="rect">
            <a:avLst/>
          </a:prstGeom>
        </p:spPr>
        <p:txBody>
          <a:bodyPr anchor="t" rtlCol="false" tIns="0" lIns="0" bIns="0" rIns="0">
            <a:spAutoFit/>
          </a:bodyPr>
          <a:lstStyle/>
          <a:p>
            <a:pPr algn="l">
              <a:lnSpc>
                <a:spcPts val="5600"/>
              </a:lnSpc>
            </a:pPr>
            <a:r>
              <a:rPr lang="en-US" b="true" sz="4000" u="sng">
                <a:solidFill>
                  <a:srgbClr val="113B36"/>
                </a:solidFill>
                <a:latin typeface="Arimo Bold"/>
                <a:ea typeface="Arimo Bold"/>
                <a:cs typeface="Arimo Bold"/>
                <a:sym typeface="Arimo Bold"/>
                <a:hlinkClick r:id="rId14" tooltip="https://github.com/farinsevany-art/inventaristoko-pertanian"/>
              </a:rPr>
              <a:t>https://github.com/farinsevany-art/inventaristoko-pertanian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8868629" y="1396836"/>
            <a:ext cx="550741" cy="1454150"/>
          </a:xfrm>
          <a:custGeom>
            <a:avLst/>
            <a:gdLst/>
            <a:ahLst/>
            <a:cxnLst/>
            <a:rect r="r" b="b" t="t" l="l"/>
            <a:pathLst>
              <a:path h="1454150" w="550741">
                <a:moveTo>
                  <a:pt x="0" y="0"/>
                </a:moveTo>
                <a:lnTo>
                  <a:pt x="550742" y="0"/>
                </a:lnTo>
                <a:lnTo>
                  <a:pt x="550742" y="1454150"/>
                </a:lnTo>
                <a:lnTo>
                  <a:pt x="0" y="14541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3946" y="-271352"/>
            <a:ext cx="2224807" cy="2224807"/>
          </a:xfrm>
          <a:custGeom>
            <a:avLst/>
            <a:gdLst/>
            <a:ahLst/>
            <a:cxnLst/>
            <a:rect r="r" b="b" t="t" l="l"/>
            <a:pathLst>
              <a:path h="2224807" w="2224807">
                <a:moveTo>
                  <a:pt x="0" y="0"/>
                </a:moveTo>
                <a:lnTo>
                  <a:pt x="2224807" y="0"/>
                </a:lnTo>
                <a:lnTo>
                  <a:pt x="2224807" y="2224807"/>
                </a:lnTo>
                <a:lnTo>
                  <a:pt x="0" y="2224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566040" y="1989963"/>
            <a:ext cx="1443921" cy="4114800"/>
          </a:xfrm>
          <a:custGeom>
            <a:avLst/>
            <a:gdLst/>
            <a:ahLst/>
            <a:cxnLst/>
            <a:rect r="r" b="b" t="t" l="l"/>
            <a:pathLst>
              <a:path h="4114800" w="1443921">
                <a:moveTo>
                  <a:pt x="0" y="0"/>
                </a:moveTo>
                <a:lnTo>
                  <a:pt x="1443920" y="0"/>
                </a:lnTo>
                <a:lnTo>
                  <a:pt x="144392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5042765" y="7066788"/>
            <a:ext cx="3406009" cy="3406009"/>
          </a:xfrm>
          <a:custGeom>
            <a:avLst/>
            <a:gdLst/>
            <a:ahLst/>
            <a:cxnLst/>
            <a:rect r="r" b="b" t="t" l="l"/>
            <a:pathLst>
              <a:path h="3406009" w="3406009">
                <a:moveTo>
                  <a:pt x="3406009" y="0"/>
                </a:moveTo>
                <a:lnTo>
                  <a:pt x="0" y="0"/>
                </a:lnTo>
                <a:lnTo>
                  <a:pt x="0" y="3406009"/>
                </a:lnTo>
                <a:lnTo>
                  <a:pt x="3406009" y="3406009"/>
                </a:lnTo>
                <a:lnTo>
                  <a:pt x="3406009"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4028" y="7066788"/>
            <a:ext cx="3406009" cy="3406009"/>
          </a:xfrm>
          <a:custGeom>
            <a:avLst/>
            <a:gdLst/>
            <a:ahLst/>
            <a:cxnLst/>
            <a:rect r="r" b="b" t="t" l="l"/>
            <a:pathLst>
              <a:path h="3406009" w="3406009">
                <a:moveTo>
                  <a:pt x="0" y="0"/>
                </a:moveTo>
                <a:lnTo>
                  <a:pt x="3406009" y="0"/>
                </a:lnTo>
                <a:lnTo>
                  <a:pt x="3406009" y="3406009"/>
                </a:lnTo>
                <a:lnTo>
                  <a:pt x="0" y="34060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8708" y="37986"/>
            <a:ext cx="7315200" cy="1143000"/>
          </a:xfrm>
          <a:custGeom>
            <a:avLst/>
            <a:gdLst/>
            <a:ahLst/>
            <a:cxnLst/>
            <a:rect r="r" b="b" t="t" l="l"/>
            <a:pathLst>
              <a:path h="1143000" w="7315200">
                <a:moveTo>
                  <a:pt x="0" y="0"/>
                </a:moveTo>
                <a:lnTo>
                  <a:pt x="7315200" y="0"/>
                </a:lnTo>
                <a:lnTo>
                  <a:pt x="7315200" y="1143000"/>
                </a:lnTo>
                <a:lnTo>
                  <a:pt x="0" y="11430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2963360" y="2757127"/>
            <a:ext cx="12361280" cy="1667241"/>
          </a:xfrm>
          <a:prstGeom prst="rect">
            <a:avLst/>
          </a:prstGeom>
        </p:spPr>
        <p:txBody>
          <a:bodyPr anchor="t" rtlCol="false" tIns="0" lIns="0" bIns="0" rIns="0">
            <a:spAutoFit/>
          </a:bodyPr>
          <a:lstStyle/>
          <a:p>
            <a:pPr algn="ctr">
              <a:lnSpc>
                <a:spcPts val="13629"/>
              </a:lnSpc>
            </a:pPr>
            <a:r>
              <a:rPr lang="en-US" sz="9735">
                <a:solidFill>
                  <a:srgbClr val="113B36"/>
                </a:solidFill>
                <a:latin typeface="Fredoka"/>
                <a:ea typeface="Fredoka"/>
                <a:cs typeface="Fredoka"/>
                <a:sym typeface="Fredoka"/>
              </a:rPr>
              <a:t>Sesi Tanya Jawab</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46080" y="-979877"/>
            <a:ext cx="2958366" cy="2958366"/>
          </a:xfrm>
          <a:custGeom>
            <a:avLst/>
            <a:gdLst/>
            <a:ahLst/>
            <a:cxnLst/>
            <a:rect r="r" b="b" t="t" l="l"/>
            <a:pathLst>
              <a:path h="2958366" w="2958366">
                <a:moveTo>
                  <a:pt x="0" y="0"/>
                </a:moveTo>
                <a:lnTo>
                  <a:pt x="2958366" y="0"/>
                </a:lnTo>
                <a:lnTo>
                  <a:pt x="2958366" y="2958366"/>
                </a:lnTo>
                <a:lnTo>
                  <a:pt x="0" y="29583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506576" y="6530599"/>
            <a:ext cx="3942198" cy="3942198"/>
          </a:xfrm>
          <a:custGeom>
            <a:avLst/>
            <a:gdLst/>
            <a:ahLst/>
            <a:cxnLst/>
            <a:rect r="r" b="b" t="t" l="l"/>
            <a:pathLst>
              <a:path h="3942198" w="3942198">
                <a:moveTo>
                  <a:pt x="3942198" y="0"/>
                </a:moveTo>
                <a:lnTo>
                  <a:pt x="0" y="0"/>
                </a:lnTo>
                <a:lnTo>
                  <a:pt x="0" y="3942198"/>
                </a:lnTo>
                <a:lnTo>
                  <a:pt x="3942198" y="3942198"/>
                </a:lnTo>
                <a:lnTo>
                  <a:pt x="394219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566040" y="2495549"/>
            <a:ext cx="1443921" cy="4114800"/>
          </a:xfrm>
          <a:custGeom>
            <a:avLst/>
            <a:gdLst/>
            <a:ahLst/>
            <a:cxnLst/>
            <a:rect r="r" b="b" t="t" l="l"/>
            <a:pathLst>
              <a:path h="4114800" w="1443921">
                <a:moveTo>
                  <a:pt x="0" y="0"/>
                </a:moveTo>
                <a:lnTo>
                  <a:pt x="1443920" y="0"/>
                </a:lnTo>
                <a:lnTo>
                  <a:pt x="144392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4028" y="6530599"/>
            <a:ext cx="3942198" cy="3942198"/>
          </a:xfrm>
          <a:custGeom>
            <a:avLst/>
            <a:gdLst/>
            <a:ahLst/>
            <a:cxnLst/>
            <a:rect r="r" b="b" t="t" l="l"/>
            <a:pathLst>
              <a:path h="3942198" w="3942198">
                <a:moveTo>
                  <a:pt x="0" y="0"/>
                </a:moveTo>
                <a:lnTo>
                  <a:pt x="3942198" y="0"/>
                </a:lnTo>
                <a:lnTo>
                  <a:pt x="3942198" y="3942198"/>
                </a:lnTo>
                <a:lnTo>
                  <a:pt x="0" y="39421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8868629" y="1396836"/>
            <a:ext cx="550741" cy="1454150"/>
          </a:xfrm>
          <a:custGeom>
            <a:avLst/>
            <a:gdLst/>
            <a:ahLst/>
            <a:cxnLst/>
            <a:rect r="r" b="b" t="t" l="l"/>
            <a:pathLst>
              <a:path h="1454150" w="550741">
                <a:moveTo>
                  <a:pt x="0" y="0"/>
                </a:moveTo>
                <a:lnTo>
                  <a:pt x="550742" y="0"/>
                </a:lnTo>
                <a:lnTo>
                  <a:pt x="550742" y="1454150"/>
                </a:lnTo>
                <a:lnTo>
                  <a:pt x="0" y="14541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001218" y="150536"/>
            <a:ext cx="7315200" cy="1143000"/>
          </a:xfrm>
          <a:custGeom>
            <a:avLst/>
            <a:gdLst/>
            <a:ahLst/>
            <a:cxnLst/>
            <a:rect r="r" b="b" t="t" l="l"/>
            <a:pathLst>
              <a:path h="1143000" w="7315200">
                <a:moveTo>
                  <a:pt x="0" y="0"/>
                </a:moveTo>
                <a:lnTo>
                  <a:pt x="7315200" y="0"/>
                </a:lnTo>
                <a:lnTo>
                  <a:pt x="7315200" y="1143000"/>
                </a:lnTo>
                <a:lnTo>
                  <a:pt x="0" y="11430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2379128" y="3456879"/>
            <a:ext cx="13529743" cy="2287390"/>
          </a:xfrm>
          <a:prstGeom prst="rect">
            <a:avLst/>
          </a:prstGeom>
        </p:spPr>
        <p:txBody>
          <a:bodyPr anchor="t" rtlCol="false" tIns="0" lIns="0" bIns="0" rIns="0">
            <a:spAutoFit/>
          </a:bodyPr>
          <a:lstStyle/>
          <a:p>
            <a:pPr algn="ctr">
              <a:lnSpc>
                <a:spcPts val="17703"/>
              </a:lnSpc>
            </a:pPr>
            <a:r>
              <a:rPr lang="en-US" sz="15667">
                <a:solidFill>
                  <a:srgbClr val="113B36"/>
                </a:solidFill>
                <a:latin typeface="Fredoka"/>
                <a:ea typeface="Fredoka"/>
                <a:cs typeface="Fredoka"/>
                <a:sym typeface="Fredoka"/>
              </a:rPr>
              <a:t>Terimakasih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DAG5tquc8c8</dc:identifier>
  <dcterms:modified xsi:type="dcterms:W3CDTF">2011-08-01T06:04:30Z</dcterms:modified>
  <cp:revision>1</cp:revision>
  <dc:title>Hijau dan Putih Modern Sederhana  Tugas Kelompok Presentasi</dc:title>
</cp:coreProperties>
</file>